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263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4160520"/>
            <a:ext cx="12191695" cy="54864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331720"/>
            <a:ext cx="10332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2A9D8F"/>
                </a:solidFill>
                <a:latin typeface="Calibri"/>
              </a:rPr>
              <a:t>AUTONOMOUS FLEET TESTBED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88920"/>
            <a:ext cx="103327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 i="0">
                <a:solidFill>
                  <a:srgbClr val="FFFFFF"/>
                </a:solidFill>
                <a:latin typeface="Calibri"/>
              </a:rPr>
              <a:t>A CI/CD-Native Testing Framework</a:t>
            </a:r>
          </a:p>
          <a:p>
            <a:pPr algn="l"/>
            <a:r>
              <a:rPr sz="4000" b="1" i="0">
                <a:solidFill>
                  <a:srgbClr val="FFFFFF"/>
                </a:solidFill>
                <a:latin typeface="Calibri"/>
              </a:rPr>
              <a:t>for Autonomous Robots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4343400"/>
            <a:ext cx="10332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1">
                <a:solidFill>
                  <a:srgbClr val="C8D3DC"/>
                </a:solidFill>
                <a:latin typeface="Calibri"/>
              </a:rPr>
              <a:t>Enterprise release discipline, applied to robotics — plus an AI agentic test-and-heal loop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6035040"/>
            <a:ext cx="10332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8A9BAC"/>
                </a:solidFill>
                <a:latin typeface="Calibri"/>
              </a:rPr>
              <a:t>Mike  ·  Release 1  · 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26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09728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2A9D8F"/>
                </a:solidFill>
                <a:latin typeface="Calibri"/>
              </a:rPr>
              <a:t>THE PROBLEM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384048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Robotics Lacks Software's Release Discipline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554480"/>
            <a:ext cx="107899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800"/>
              </a:spcAft>
            </a:pPr>
            <a:r>
              <a:rPr b="1" sz="1700">
                <a:solidFill>
                  <a:srgbClr val="2A9D8F"/>
                </a:solidFill>
                <a:latin typeface="Calibri"/>
              </a:rPr>
              <a:t>•  Sim and real-world testing are separate, ad hoc efforts</a:t>
            </a:r>
            <a:r>
              <a:rPr sz="1700">
                <a:solidFill>
                  <a:srgbClr val="2B2B2B"/>
                </a:solidFill>
                <a:latin typeface="Calibri"/>
              </a:rPr>
              <a:t>  There's rarely one pipeline that proves a robot works in simulation and on hardware, before every release.</a:t>
            </a:r>
          </a:p>
          <a:p>
            <a:pPr>
              <a:spcAft>
                <a:spcPts val="1800"/>
              </a:spcAft>
            </a:pPr>
            <a:r>
              <a:rPr b="1" sz="1700">
                <a:solidFill>
                  <a:srgbClr val="2A9D8F"/>
                </a:solidFill>
                <a:latin typeface="Calibri"/>
              </a:rPr>
              <a:t>•  Regressions get caught late</a:t>
            </a:r>
            <a:r>
              <a:rPr sz="1700">
                <a:solidFill>
                  <a:srgbClr val="2B2B2B"/>
                </a:solidFill>
                <a:latin typeface="Calibri"/>
              </a:rPr>
              <a:t>  On the bench, or in the field — not in a fast, cheap feedback loop measured in seconds.</a:t>
            </a:r>
          </a:p>
          <a:p>
            <a:pPr>
              <a:spcAft>
                <a:spcPts val="1800"/>
              </a:spcAft>
            </a:pPr>
            <a:r>
              <a:rPr b="1" sz="1700">
                <a:solidFill>
                  <a:srgbClr val="2A9D8F"/>
                </a:solidFill>
                <a:latin typeface="Calibri"/>
              </a:rPr>
              <a:t>•  Test scenarios are static</a:t>
            </a:r>
            <a:r>
              <a:rPr sz="1700">
                <a:solidFill>
                  <a:srgbClr val="2B2B2B"/>
                </a:solidFill>
                <a:latin typeface="Calibri"/>
              </a:rPr>
              <a:t>  The same fixed suite runs release after release; nothing generates new scenarios to find new bugs.</a:t>
            </a:r>
          </a:p>
          <a:p>
            <a:pPr>
              <a:spcAft>
                <a:spcPts val="1800"/>
              </a:spcAft>
            </a:pPr>
            <a:r>
              <a:rPr b="1" sz="1700">
                <a:solidFill>
                  <a:srgbClr val="2A9D8F"/>
                </a:solidFill>
                <a:latin typeface="Calibri"/>
              </a:rPr>
              <a:t>•  No systematic drift detection</a:t>
            </a:r>
            <a:r>
              <a:rPr sz="1700">
                <a:solidFill>
                  <a:srgbClr val="2B2B2B"/>
                </a:solidFill>
                <a:latin typeface="Calibri"/>
              </a:rPr>
              <a:t>  Without a rolling baseline, a robot that's slowly getting worse looks the same as one that isn't — until it fails.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10528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B7280"/>
                </a:solidFill>
                <a:latin typeface="Calibri"/>
              </a:rPr>
              <a:t>autonomous-fleet-testbed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26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09728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2A9D8F"/>
                </a:solidFill>
                <a:latin typeface="Calibri"/>
              </a:rPr>
              <a:t>THE SOLUTION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384048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Proven Before Every Release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508760"/>
            <a:ext cx="108813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2B2B2B"/>
                </a:solidFill>
                <a:latin typeface="Calibri"/>
              </a:rPr>
              <a:t>A local-first, CI/CD-native pipeline that proves a robot's software works — in simulation and on real hardware — before it ships. Two products, mutually reinforcing: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606040"/>
            <a:ext cx="5212080" cy="2651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2A9D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/>
          <a:lstStyle/>
          <a:p>
            <a:pPr algn="ctr"/>
            <a:r>
              <a:rPr sz="1300" b="1" i="0">
                <a:solidFill>
                  <a:srgbClr val="2B2B2B"/>
                </a:solidFill>
                <a:latin typeface="Calibri"/>
              </a:rPr>
              <a:t/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788920"/>
            <a:ext cx="4663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2A9D8F"/>
                </a:solidFill>
                <a:latin typeface="Calibri"/>
              </a:rPr>
              <a:t>FLEET CI/CD PIPELINE FRAMEWORK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3200400"/>
            <a:ext cx="4663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6B7280"/>
                </a:solidFill>
                <a:latin typeface="Calibri"/>
              </a:rPr>
              <a:t>"How do you know your robot software</a:t>
            </a:r>
          </a:p>
          <a:p>
            <a:pPr algn="l"/>
            <a:r>
              <a:rPr sz="1300" b="0" i="1">
                <a:solidFill>
                  <a:srgbClr val="6B7280"/>
                </a:solidFill>
                <a:latin typeface="Calibri"/>
              </a:rPr>
              <a:t>works before it touches hardware?"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3840480"/>
            <a:ext cx="466344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300">
                <a:solidFill>
                  <a:srgbClr val="2B2B2B"/>
                </a:solidFill>
                <a:latin typeface="Calibri"/>
              </a:rPr>
              <a:t>•  Robot-agnostic, open-source-ready</a:t>
            </a:r>
          </a:p>
          <a:p>
            <a:pPr>
              <a:spcAft>
                <a:spcPts val="600"/>
              </a:spcAft>
            </a:pPr>
            <a:r>
              <a:rPr sz="1300">
                <a:solidFill>
                  <a:srgbClr val="2B2B2B"/>
                </a:solidFill>
                <a:latin typeface="Calibri"/>
              </a:rPr>
              <a:t>•  Built on ROS2, Gazebo, Isaac Sim, GitHub Actions</a:t>
            </a:r>
          </a:p>
          <a:p>
            <a:pPr>
              <a:spcAft>
                <a:spcPts val="600"/>
              </a:spcAft>
            </a:pPr>
            <a:r>
              <a:rPr sz="1300">
                <a:solidFill>
                  <a:srgbClr val="2B2B2B"/>
                </a:solidFill>
                <a:latin typeface="Calibri"/>
              </a:rPr>
              <a:t>•  Lives in tools/ + .github/workflows/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2606040"/>
            <a:ext cx="5212080" cy="2651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76F5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/>
          <a:lstStyle/>
          <a:p>
            <a:pPr algn="ctr"/>
            <a:r>
              <a:rPr sz="1300" b="1" i="0">
                <a:solidFill>
                  <a:srgbClr val="2B2B2B"/>
                </a:solidFill>
                <a:latin typeface="Calibri"/>
              </a:rPr>
              <a:t/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37960" y="2788920"/>
            <a:ext cx="4663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E76F51"/>
                </a:solidFill>
                <a:latin typeface="Calibri"/>
              </a:rPr>
              <a:t>AI AUTONOMOUS MISSION PLANNER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37960" y="3200400"/>
            <a:ext cx="4663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6B7280"/>
                </a:solidFill>
                <a:latin typeface="Calibri"/>
              </a:rPr>
              <a:t>"How do you tell a fleet what to do —</a:t>
            </a:r>
          </a:p>
          <a:p>
            <a:pPr algn="l"/>
            <a:r>
              <a:rPr sz="1300" b="0" i="1">
                <a:solidFill>
                  <a:srgbClr val="6B7280"/>
                </a:solidFill>
                <a:latin typeface="Calibri"/>
              </a:rPr>
              <a:t>and prove they can do it?"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37960" y="3840480"/>
            <a:ext cx="466344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300">
                <a:solidFill>
                  <a:srgbClr val="2B2B2B"/>
                </a:solidFill>
                <a:latin typeface="Calibri"/>
              </a:rPr>
              <a:t>•  Scripted missions today, AI-driven next</a:t>
            </a:r>
          </a:p>
          <a:p>
            <a:pPr>
              <a:spcAft>
                <a:spcPts val="600"/>
              </a:spcAft>
            </a:pPr>
            <a:r>
              <a:rPr sz="1300">
                <a:solidFill>
                  <a:srgbClr val="2B2B2B"/>
                </a:solidFill>
                <a:latin typeface="Calibri"/>
              </a:rPr>
              <a:t>•  Generates the scenarios the pipeline tests</a:t>
            </a:r>
          </a:p>
          <a:p>
            <a:pPr>
              <a:spcAft>
                <a:spcPts val="600"/>
              </a:spcAft>
            </a:pPr>
            <a:r>
              <a:rPr sz="1300">
                <a:solidFill>
                  <a:srgbClr val="2B2B2B"/>
                </a:solidFill>
                <a:latin typeface="Calibri"/>
              </a:rPr>
              <a:t>•  Lives in src/nav_fleet/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5532120"/>
            <a:ext cx="10881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2B2B2B"/>
                </a:solidFill>
                <a:latin typeface="Calibri"/>
              </a:rPr>
              <a:t>The pipeline validates the planner. The planner generates the scenarios the pipeline tests.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6510528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B7280"/>
                </a:solidFill>
                <a:latin typeface="Calibri"/>
              </a:rPr>
              <a:t>autonomous-fleet-testbed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26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09728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2A9D8F"/>
                </a:solidFill>
                <a:latin typeface="Calibri"/>
              </a:rPr>
              <a:t>SHIFT LEFT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384048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Find 90% of Bugs Before CI Even Starts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2011680"/>
            <a:ext cx="2606040" cy="1371600"/>
          </a:xfrm>
          <a:prstGeom prst="roundRect">
            <a:avLst/>
          </a:prstGeom>
          <a:solidFill>
            <a:srgbClr val="2A9D8F"/>
          </a:solidFill>
          <a:ln w="12700">
            <a:solidFill>
              <a:srgbClr val="D8DC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/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x86 Bare Metal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520440"/>
            <a:ext cx="2606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2A9D8F"/>
                </a:solidFill>
                <a:latin typeface="Calibri"/>
              </a:rPr>
              <a:t>~1 sec build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3886200"/>
            <a:ext cx="26060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50" b="0" i="0">
                <a:solidFill>
                  <a:srgbClr val="6B7280"/>
                </a:solidFill>
                <a:latin typeface="Calibri"/>
              </a:rPr>
              <a:t>colcon build, Python unit tests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3273551" y="2697480"/>
            <a:ext cx="265177" cy="0"/>
          </a:xfrm>
          <a:prstGeom prst="line">
            <a:avLst/>
          </a:prstGeom>
          <a:ln w="25400">
            <a:solidFill>
              <a:srgbClr val="6B728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3566160" y="2011680"/>
            <a:ext cx="2606040" cy="1371600"/>
          </a:xfrm>
          <a:prstGeom prst="roundRect">
            <a:avLst/>
          </a:prstGeom>
          <a:solidFill>
            <a:srgbClr val="2A9D8F"/>
          </a:solidFill>
          <a:ln w="12700">
            <a:solidFill>
              <a:srgbClr val="D8DC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/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Gazebo Harmonic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566160" y="3520440"/>
            <a:ext cx="2606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2A9D8F"/>
                </a:solidFill>
                <a:latin typeface="Calibri"/>
              </a:rPr>
              <a:t>throughput tier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566160" y="3886200"/>
            <a:ext cx="26060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50" b="0" i="0">
                <a:solidFill>
                  <a:srgbClr val="6B7280"/>
                </a:solidFill>
                <a:latin typeface="Calibri"/>
              </a:rPr>
              <a:t>Fast headless nav sim, seconds per run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6199632" y="2697480"/>
            <a:ext cx="265175" cy="0"/>
          </a:xfrm>
          <a:prstGeom prst="line">
            <a:avLst/>
          </a:prstGeom>
          <a:ln w="25400">
            <a:solidFill>
              <a:srgbClr val="6B728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6492240" y="2011680"/>
            <a:ext cx="2606040" cy="1371600"/>
          </a:xfrm>
          <a:prstGeom prst="roundRect">
            <a:avLst/>
          </a:prstGeom>
          <a:solidFill>
            <a:srgbClr val="E76F51"/>
          </a:solidFill>
          <a:ln w="12700">
            <a:solidFill>
              <a:srgbClr val="D8DC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/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Isaac Sim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92240" y="3520440"/>
            <a:ext cx="2606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E76F51"/>
                </a:solidFill>
                <a:latin typeface="Calibri"/>
              </a:rPr>
              <a:t>fidelity tier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92240" y="3886200"/>
            <a:ext cx="26060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50" b="0" i="0">
                <a:solidFill>
                  <a:srgbClr val="6B7280"/>
                </a:solidFill>
                <a:latin typeface="Calibri"/>
              </a:rPr>
              <a:t>Photorealistic physics, perception-grade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9125712" y="2697480"/>
            <a:ext cx="265176" cy="0"/>
          </a:xfrm>
          <a:prstGeom prst="line">
            <a:avLst/>
          </a:prstGeom>
          <a:ln w="25400">
            <a:solidFill>
              <a:srgbClr val="6B728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9418320" y="2011680"/>
            <a:ext cx="2606040" cy="1371600"/>
          </a:xfrm>
          <a:prstGeom prst="roundRect">
            <a:avLst/>
          </a:prstGeom>
          <a:solidFill>
            <a:srgbClr val="14263D"/>
          </a:solidFill>
          <a:ln w="12700">
            <a:solidFill>
              <a:srgbClr val="D8DC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/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Real Hardware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418320" y="3520440"/>
            <a:ext cx="2606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14263D"/>
                </a:solidFill>
                <a:latin typeface="Calibri"/>
              </a:rPr>
              <a:t>ground truth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418320" y="3886200"/>
            <a:ext cx="26060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50" b="0" i="0">
                <a:solidFill>
                  <a:srgbClr val="6B7280"/>
                </a:solidFill>
                <a:latin typeface="Calibri"/>
              </a:rPr>
              <a:t>Jetson Orin Nano + Waveshare UGV — Session 14/15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" y="5394960"/>
            <a:ext cx="108813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 i="1">
                <a:solidFill>
                  <a:srgbClr val="2B2B2B"/>
                </a:solidFill>
                <a:latin typeface="Calibri"/>
              </a:rPr>
              <a:t>x86 bare metal finds 90% of bugs at ~1s build time vs. 23+ minutes in emulated CI — debug locally, commit to CI only when clean.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2920" y="6510528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B7280"/>
                </a:solidFill>
                <a:latin typeface="Calibri"/>
              </a:rPr>
              <a:t>autonomous-fleet-testbed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26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09728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2A9D8F"/>
                </a:solidFill>
                <a:latin typeface="Calibri"/>
              </a:rPr>
              <a:t>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384048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The 6-Stage CI/CD Pipeline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18007" y="2148840"/>
            <a:ext cx="1691640" cy="1417320"/>
          </a:xfrm>
          <a:prstGeom prst="roundRect">
            <a:avLst/>
          </a:prstGeom>
          <a:solidFill>
            <a:srgbClr val="14263D"/>
          </a:solidFill>
          <a:ln w="12700">
            <a:solidFill>
              <a:srgbClr val="D8DC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/>
          <a:lstStyle/>
          <a:p>
            <a:pPr algn="ctr"/>
            <a:r>
              <a:rPr sz="1300" b="1" i="0">
                <a:solidFill>
                  <a:srgbClr val="2B2B2B"/>
                </a:solidFill>
                <a:latin typeface="Calibri"/>
              </a:rPr>
              <a:t/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18007" y="2258568"/>
            <a:ext cx="1691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C8D3DC"/>
                </a:solidFill>
                <a:latin typeface="Calibri"/>
              </a:rPr>
              <a:t>Stage 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1159" y="2560320"/>
            <a:ext cx="1545336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Requirements</a:t>
            </a:r>
          </a:p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Traceability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2237079" y="2857500"/>
            <a:ext cx="146304" cy="0"/>
          </a:xfrm>
          <a:prstGeom prst="line">
            <a:avLst/>
          </a:prstGeom>
          <a:ln w="25400">
            <a:solidFill>
              <a:srgbClr val="6B728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2410815" y="2148840"/>
            <a:ext cx="1691640" cy="1417320"/>
          </a:xfrm>
          <a:prstGeom prst="roundRect">
            <a:avLst/>
          </a:prstGeom>
          <a:solidFill>
            <a:srgbClr val="2A9D8F"/>
          </a:solidFill>
          <a:ln w="12700">
            <a:solidFill>
              <a:srgbClr val="D8DC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/>
          <a:lstStyle/>
          <a:p>
            <a:pPr algn="ctr"/>
            <a:r>
              <a:rPr sz="1300" b="1" i="0">
                <a:solidFill>
                  <a:srgbClr val="2B2B2B"/>
                </a:solidFill>
                <a:latin typeface="Calibri"/>
              </a:rPr>
              <a:t/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410815" y="2258568"/>
            <a:ext cx="1691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C8D3DC"/>
                </a:solidFill>
                <a:latin typeface="Calibri"/>
              </a:rPr>
              <a:t>Stage 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483967" y="2560320"/>
            <a:ext cx="1545336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Code Quality</a:t>
            </a:r>
          </a:p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(ament lint)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4129887" y="2857500"/>
            <a:ext cx="146304" cy="0"/>
          </a:xfrm>
          <a:prstGeom prst="line">
            <a:avLst/>
          </a:prstGeom>
          <a:ln w="25400">
            <a:solidFill>
              <a:srgbClr val="6B728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4303623" y="2148840"/>
            <a:ext cx="1691640" cy="1417320"/>
          </a:xfrm>
          <a:prstGeom prst="roundRect">
            <a:avLst/>
          </a:prstGeom>
          <a:solidFill>
            <a:srgbClr val="14263D"/>
          </a:solidFill>
          <a:ln w="12700">
            <a:solidFill>
              <a:srgbClr val="D8DC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/>
          <a:lstStyle/>
          <a:p>
            <a:pPr algn="ctr"/>
            <a:r>
              <a:rPr sz="1300" b="1" i="0">
                <a:solidFill>
                  <a:srgbClr val="2B2B2B"/>
                </a:solidFill>
                <a:latin typeface="Calibri"/>
              </a:rPr>
              <a:t/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03623" y="2258568"/>
            <a:ext cx="1691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C8D3DC"/>
                </a:solidFill>
                <a:latin typeface="Calibri"/>
              </a:rPr>
              <a:t>Stage 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376775" y="2560320"/>
            <a:ext cx="1545336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arm64</a:t>
            </a:r>
          </a:p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Cross-Compile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6022695" y="2857500"/>
            <a:ext cx="146304" cy="0"/>
          </a:xfrm>
          <a:prstGeom prst="line">
            <a:avLst/>
          </a:prstGeom>
          <a:ln w="25400">
            <a:solidFill>
              <a:srgbClr val="6B728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6196431" y="2148840"/>
            <a:ext cx="1691640" cy="1417320"/>
          </a:xfrm>
          <a:prstGeom prst="roundRect">
            <a:avLst/>
          </a:prstGeom>
          <a:solidFill>
            <a:srgbClr val="2A9D8F"/>
          </a:solidFill>
          <a:ln w="12700">
            <a:solidFill>
              <a:srgbClr val="D8DC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/>
          <a:lstStyle/>
          <a:p>
            <a:pPr algn="ctr"/>
            <a:r>
              <a:rPr sz="1300" b="1" i="0">
                <a:solidFill>
                  <a:srgbClr val="2B2B2B"/>
                </a:solidFill>
                <a:latin typeface="Calibri"/>
              </a:rPr>
              <a:t/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196431" y="2258568"/>
            <a:ext cx="1691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C8D3DC"/>
                </a:solidFill>
                <a:latin typeface="Calibri"/>
              </a:rPr>
              <a:t>Stage 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69583" y="2560320"/>
            <a:ext cx="1545336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Gazebo</a:t>
            </a:r>
          </a:p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Simulation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7915503" y="2857500"/>
            <a:ext cx="146304" cy="0"/>
          </a:xfrm>
          <a:prstGeom prst="line">
            <a:avLst/>
          </a:prstGeom>
          <a:ln w="25400">
            <a:solidFill>
              <a:srgbClr val="6B728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8089239" y="2148840"/>
            <a:ext cx="1691640" cy="1417320"/>
          </a:xfrm>
          <a:prstGeom prst="roundRect">
            <a:avLst/>
          </a:prstGeom>
          <a:solidFill>
            <a:srgbClr val="14263D"/>
          </a:solidFill>
          <a:ln w="12700">
            <a:solidFill>
              <a:srgbClr val="D8DC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/>
          <a:lstStyle/>
          <a:p>
            <a:pPr algn="ctr"/>
            <a:r>
              <a:rPr sz="1300" b="1" i="0">
                <a:solidFill>
                  <a:srgbClr val="2B2B2B"/>
                </a:solidFill>
                <a:latin typeface="Calibri"/>
              </a:rPr>
              <a:t/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089239" y="2258568"/>
            <a:ext cx="1691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C8D3DC"/>
                </a:solidFill>
                <a:latin typeface="Calibri"/>
              </a:rPr>
              <a:t>Stage 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162391" y="2560320"/>
            <a:ext cx="1545336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Isaac Sim</a:t>
            </a:r>
          </a:p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(fidelity)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9808311" y="2857500"/>
            <a:ext cx="146304" cy="0"/>
          </a:xfrm>
          <a:prstGeom prst="line">
            <a:avLst/>
          </a:prstGeom>
          <a:ln w="25400">
            <a:solidFill>
              <a:srgbClr val="6B728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ounded Rectangle 24"/>
          <p:cNvSpPr/>
          <p:nvPr/>
        </p:nvSpPr>
        <p:spPr>
          <a:xfrm>
            <a:off x="9982047" y="2148840"/>
            <a:ext cx="1691640" cy="1417320"/>
          </a:xfrm>
          <a:prstGeom prst="roundRect">
            <a:avLst/>
          </a:prstGeom>
          <a:solidFill>
            <a:srgbClr val="2A9D8F"/>
          </a:solidFill>
          <a:ln w="12700">
            <a:solidFill>
              <a:srgbClr val="D8DC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/>
          <a:lstStyle/>
          <a:p>
            <a:pPr algn="ctr"/>
            <a:r>
              <a:rPr sz="1300" b="1" i="0">
                <a:solidFill>
                  <a:srgbClr val="2B2B2B"/>
                </a:solidFill>
                <a:latin typeface="Calibri"/>
              </a:rPr>
              <a:t/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982047" y="2258568"/>
            <a:ext cx="1691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C8D3DC"/>
                </a:solidFill>
                <a:latin typeface="Calibri"/>
              </a:rPr>
              <a:t>Stage 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055199" y="2560320"/>
            <a:ext cx="1545336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Reports +</a:t>
            </a:r>
          </a:p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Dashboard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595360" y="4023360"/>
            <a:ext cx="1965960" cy="914400"/>
          </a:xfrm>
          <a:prstGeom prst="roundRect">
            <a:avLst/>
          </a:prstGeom>
          <a:solidFill>
            <a:srgbClr val="E76F51"/>
          </a:solidFill>
          <a:ln w="12700">
            <a:solidFill>
              <a:srgbClr val="D8DC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/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Stage 6</a:t>
            </a:r>
          </a:p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Real Robot Deploy</a:t>
            </a:r>
          </a:p>
        </p:txBody>
      </p:sp>
      <p:cxnSp>
        <p:nvCxnSpPr>
          <p:cNvPr id="29" name="Connector 28"/>
          <p:cNvCxnSpPr/>
          <p:nvPr/>
        </p:nvCxnSpPr>
        <p:spPr>
          <a:xfrm flipH="1">
            <a:off x="9578340" y="3566160"/>
            <a:ext cx="1249527" cy="457200"/>
          </a:xfrm>
          <a:prstGeom prst="line">
            <a:avLst/>
          </a:prstGeom>
          <a:ln w="25400">
            <a:solidFill>
              <a:srgbClr val="E76F51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TextBox 29"/>
          <p:cNvSpPr txBox="1"/>
          <p:nvPr/>
        </p:nvSpPr>
        <p:spPr>
          <a:xfrm>
            <a:off x="8595360" y="5074920"/>
            <a:ext cx="1965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E76F51"/>
                </a:solidFill>
                <a:latin typeface="Calibri"/>
              </a:rPr>
              <a:t>Sessions 14–15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0080" y="5623560"/>
            <a:ext cx="108813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300">
                <a:solidFill>
                  <a:srgbClr val="6B7280"/>
                </a:solidFill>
                <a:latin typeface="Calibri"/>
              </a:rPr>
              <a:t>•  Every stage gates the next — a requirement with no test, or a lint failure, blocks the pipeline before it ever reaches sim.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02920" y="6510528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B7280"/>
                </a:solidFill>
                <a:latin typeface="Calibri"/>
              </a:rPr>
              <a:t>autonomous-fleet-testbed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26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09728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2A9D8F"/>
                </a:solidFill>
                <a:latin typeface="Calibri"/>
              </a:rPr>
              <a:t>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384048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Telemetry: One Schema, Every Backend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14400" y="1554480"/>
            <a:ext cx="2377440" cy="777240"/>
          </a:xfrm>
          <a:prstGeom prst="roundRect">
            <a:avLst/>
          </a:prstGeom>
          <a:solidFill>
            <a:srgbClr val="14263D"/>
          </a:solidFill>
          <a:ln w="12700">
            <a:solidFill>
              <a:srgbClr val="D8DC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/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Gazebo</a:t>
            </a:r>
          </a:p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Harmonic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2103120" y="2331720"/>
            <a:ext cx="3474720" cy="731520"/>
          </a:xfrm>
          <a:prstGeom prst="line">
            <a:avLst/>
          </a:prstGeom>
          <a:ln w="19050">
            <a:solidFill>
              <a:srgbClr val="6B728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ounded Rectangle 6"/>
          <p:cNvSpPr/>
          <p:nvPr/>
        </p:nvSpPr>
        <p:spPr>
          <a:xfrm>
            <a:off x="3977639" y="1554480"/>
            <a:ext cx="2377440" cy="777240"/>
          </a:xfrm>
          <a:prstGeom prst="roundRect">
            <a:avLst/>
          </a:prstGeom>
          <a:solidFill>
            <a:srgbClr val="14263D"/>
          </a:solidFill>
          <a:ln w="12700">
            <a:solidFill>
              <a:srgbClr val="D8DC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/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Isaac Sim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5166359" y="2331720"/>
            <a:ext cx="411481" cy="731520"/>
          </a:xfrm>
          <a:prstGeom prst="line">
            <a:avLst/>
          </a:prstGeom>
          <a:ln w="19050">
            <a:solidFill>
              <a:srgbClr val="6B728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7040880" y="1554480"/>
            <a:ext cx="2377440" cy="777240"/>
          </a:xfrm>
          <a:prstGeom prst="roundRect">
            <a:avLst/>
          </a:prstGeom>
          <a:solidFill>
            <a:srgbClr val="14263D"/>
          </a:solidFill>
          <a:ln w="12700">
            <a:solidFill>
              <a:srgbClr val="D8DC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/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Real Robot</a:t>
            </a:r>
          </a:p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(Session 15)</a:t>
            </a:r>
          </a:p>
        </p:txBody>
      </p:sp>
      <p:cxnSp>
        <p:nvCxnSpPr>
          <p:cNvPr id="10" name="Connector 9"/>
          <p:cNvCxnSpPr/>
          <p:nvPr/>
        </p:nvCxnSpPr>
        <p:spPr>
          <a:xfrm flipH="1">
            <a:off x="5577840" y="2331720"/>
            <a:ext cx="2651760" cy="731520"/>
          </a:xfrm>
          <a:prstGeom prst="line">
            <a:avLst/>
          </a:prstGeom>
          <a:ln w="19050">
            <a:solidFill>
              <a:srgbClr val="6B728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4434840" y="3063240"/>
            <a:ext cx="3291840" cy="777240"/>
          </a:xfrm>
          <a:prstGeom prst="roundRect">
            <a:avLst/>
          </a:prstGeom>
          <a:solidFill>
            <a:srgbClr val="2A9D8F"/>
          </a:solidFill>
          <a:ln w="12700">
            <a:solidFill>
              <a:srgbClr val="D8DC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/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ROS2 Jazzy + Nav2</a:t>
            </a:r>
          </a:p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(same test suite, sim_engine tag)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6080760" y="3840480"/>
            <a:ext cx="0" cy="411480"/>
          </a:xfrm>
          <a:prstGeom prst="line">
            <a:avLst/>
          </a:prstGeom>
          <a:ln w="25400">
            <a:solidFill>
              <a:srgbClr val="6B728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4892040" y="4251960"/>
            <a:ext cx="2377440" cy="685800"/>
          </a:xfrm>
          <a:prstGeom prst="roundRect">
            <a:avLst/>
          </a:prstGeom>
          <a:solidFill>
            <a:srgbClr val="E76F51"/>
          </a:solidFill>
          <a:ln w="12700">
            <a:solidFill>
              <a:srgbClr val="D8DC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/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telemetry_logger.log_run()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6080760" y="4937760"/>
            <a:ext cx="0" cy="320040"/>
          </a:xfrm>
          <a:prstGeom prst="line">
            <a:avLst/>
          </a:prstGeom>
          <a:ln w="25400">
            <a:solidFill>
              <a:srgbClr val="6B728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5074920" y="5257800"/>
            <a:ext cx="2011680" cy="640080"/>
          </a:xfrm>
          <a:prstGeom prst="roundRect">
            <a:avLst/>
          </a:prstGeom>
          <a:solidFill>
            <a:srgbClr val="14263D"/>
          </a:solidFill>
          <a:ln w="12700">
            <a:solidFill>
              <a:srgbClr val="D8DC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/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SQLite</a:t>
            </a:r>
          </a:p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(single source of truth)</a:t>
            </a:r>
          </a:p>
        </p:txBody>
      </p:sp>
      <p:cxnSp>
        <p:nvCxnSpPr>
          <p:cNvPr id="16" name="Connector 15"/>
          <p:cNvCxnSpPr/>
          <p:nvPr/>
        </p:nvCxnSpPr>
        <p:spPr>
          <a:xfrm flipH="1">
            <a:off x="1783080" y="5897880"/>
            <a:ext cx="4297680" cy="91440"/>
          </a:xfrm>
          <a:prstGeom prst="line">
            <a:avLst/>
          </a:prstGeom>
          <a:ln w="15875">
            <a:solidFill>
              <a:srgbClr val="6B728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731520" y="5989320"/>
            <a:ext cx="2103120" cy="640080"/>
          </a:xfrm>
          <a:prstGeom prst="roundRect">
            <a:avLst/>
          </a:prstGeom>
          <a:solidFill>
            <a:srgbClr val="F4F6F8"/>
          </a:solidFill>
          <a:ln w="12700">
            <a:solidFill>
              <a:srgbClr val="2A9D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/>
          <a:lstStyle/>
          <a:p>
            <a:pPr algn="ctr"/>
            <a:r>
              <a:rPr sz="1150" b="1" i="0">
                <a:solidFill>
                  <a:srgbClr val="2B2B2B"/>
                </a:solidFill>
                <a:latin typeface="Calibri"/>
              </a:rPr>
              <a:t>PDF Reports</a:t>
            </a:r>
          </a:p>
        </p:txBody>
      </p:sp>
      <p:cxnSp>
        <p:nvCxnSpPr>
          <p:cNvPr id="18" name="Connector 17"/>
          <p:cNvCxnSpPr/>
          <p:nvPr/>
        </p:nvCxnSpPr>
        <p:spPr>
          <a:xfrm flipH="1">
            <a:off x="4297679" y="5897880"/>
            <a:ext cx="1783081" cy="91440"/>
          </a:xfrm>
          <a:prstGeom prst="line">
            <a:avLst/>
          </a:prstGeom>
          <a:ln w="15875">
            <a:solidFill>
              <a:srgbClr val="6B728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3246120" y="5989320"/>
            <a:ext cx="2103120" cy="640080"/>
          </a:xfrm>
          <a:prstGeom prst="roundRect">
            <a:avLst/>
          </a:prstGeom>
          <a:solidFill>
            <a:srgbClr val="F4F6F8"/>
          </a:solidFill>
          <a:ln w="12700">
            <a:solidFill>
              <a:srgbClr val="2A9D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/>
          <a:lstStyle/>
          <a:p>
            <a:pPr algn="ctr"/>
            <a:r>
              <a:rPr sz="1150" b="1" i="0">
                <a:solidFill>
                  <a:srgbClr val="2B2B2B"/>
                </a:solidFill>
                <a:latin typeface="Calibri"/>
              </a:rPr>
              <a:t>Streamlit</a:t>
            </a:r>
          </a:p>
          <a:p>
            <a:pPr algn="ctr"/>
            <a:r>
              <a:rPr sz="1150" b="1" i="0">
                <a:solidFill>
                  <a:srgbClr val="2B2B2B"/>
                </a:solidFill>
                <a:latin typeface="Calibri"/>
              </a:rPr>
              <a:t>Dashboard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6080760" y="5897880"/>
            <a:ext cx="1280160" cy="91440"/>
          </a:xfrm>
          <a:prstGeom prst="line">
            <a:avLst/>
          </a:prstGeom>
          <a:ln w="15875">
            <a:solidFill>
              <a:srgbClr val="6B728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6309360" y="5989320"/>
            <a:ext cx="2103120" cy="640080"/>
          </a:xfrm>
          <a:prstGeom prst="roundRect">
            <a:avLst/>
          </a:prstGeom>
          <a:solidFill>
            <a:srgbClr val="F4F6F8"/>
          </a:solidFill>
          <a:ln w="12700">
            <a:solidFill>
              <a:srgbClr val="2A9D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/>
          <a:lstStyle/>
          <a:p>
            <a:pPr algn="ctr"/>
            <a:r>
              <a:rPr sz="1150" b="1" i="0">
                <a:solidFill>
                  <a:srgbClr val="2B2B2B"/>
                </a:solidFill>
                <a:latin typeface="Calibri"/>
              </a:rPr>
              <a:t>Drift Detector</a:t>
            </a:r>
          </a:p>
          <a:p>
            <a:pPr algn="ctr"/>
            <a:r>
              <a:rPr sz="1150" b="1" i="0">
                <a:solidFill>
                  <a:srgbClr val="2B2B2B"/>
                </a:solidFill>
                <a:latin typeface="Calibri"/>
              </a:rPr>
              <a:t>(rolling baseline)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6080760" y="5897880"/>
            <a:ext cx="4343400" cy="91440"/>
          </a:xfrm>
          <a:prstGeom prst="line">
            <a:avLst/>
          </a:prstGeom>
          <a:ln w="15875">
            <a:solidFill>
              <a:srgbClr val="6B728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ounded Rectangle 22"/>
          <p:cNvSpPr/>
          <p:nvPr/>
        </p:nvSpPr>
        <p:spPr>
          <a:xfrm>
            <a:off x="9372600" y="5989320"/>
            <a:ext cx="2103120" cy="640080"/>
          </a:xfrm>
          <a:prstGeom prst="roundRect">
            <a:avLst/>
          </a:prstGeom>
          <a:solidFill>
            <a:srgbClr val="F4F6F8"/>
          </a:solidFill>
          <a:ln w="12700">
            <a:solidFill>
              <a:srgbClr val="2A9D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/>
          <a:lstStyle/>
          <a:p>
            <a:pPr algn="ctr"/>
            <a:r>
              <a:rPr sz="1150" b="1" i="0">
                <a:solidFill>
                  <a:srgbClr val="2B2B2B"/>
                </a:solidFill>
                <a:latin typeface="Calibri"/>
              </a:rPr>
              <a:t>Agentic Loop</a:t>
            </a:r>
          </a:p>
          <a:p>
            <a:pPr algn="ctr"/>
            <a:r>
              <a:rPr sz="1150" b="1" i="0">
                <a:solidFill>
                  <a:srgbClr val="2B2B2B"/>
                </a:solidFill>
                <a:latin typeface="Calibri"/>
              </a:rPr>
              <a:t>(Session 13)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26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09728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2A9D8F"/>
                </a:solidFill>
                <a:latin typeface="Calibri"/>
              </a:rPr>
              <a:t>DISCIPLINE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384048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Requirements Traceability — a CI Gate, Not a Spreadsheet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508760"/>
            <a:ext cx="108813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2B2B2B"/>
                </a:solidFill>
                <a:latin typeface="Calibri"/>
              </a:rPr>
              <a:t>Every requirement maps to a real, executing test. A requirement with no test fails the build.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2194560"/>
            <a:ext cx="1463040" cy="411480"/>
          </a:xfrm>
          <a:prstGeom prst="rect">
            <a:avLst/>
          </a:prstGeom>
          <a:solidFill>
            <a:srgbClr val="14263D"/>
          </a:solidFill>
          <a:ln w="12700">
            <a:solidFill>
              <a:srgbClr val="D8DC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/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ID</a:t>
            </a:r>
          </a:p>
        </p:txBody>
      </p:sp>
      <p:sp>
        <p:nvSpPr>
          <p:cNvPr id="7" name="Rectangle 6"/>
          <p:cNvSpPr/>
          <p:nvPr/>
        </p:nvSpPr>
        <p:spPr>
          <a:xfrm>
            <a:off x="2194560" y="2194560"/>
            <a:ext cx="5303520" cy="411480"/>
          </a:xfrm>
          <a:prstGeom prst="rect">
            <a:avLst/>
          </a:prstGeom>
          <a:solidFill>
            <a:srgbClr val="14263D"/>
          </a:solidFill>
          <a:ln w="12700">
            <a:solidFill>
              <a:srgbClr val="D8DC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/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Requirement</a:t>
            </a:r>
          </a:p>
        </p:txBody>
      </p:sp>
      <p:sp>
        <p:nvSpPr>
          <p:cNvPr id="8" name="Rectangle 7"/>
          <p:cNvSpPr/>
          <p:nvPr/>
        </p:nvSpPr>
        <p:spPr>
          <a:xfrm>
            <a:off x="7635240" y="2194560"/>
            <a:ext cx="3931920" cy="411480"/>
          </a:xfrm>
          <a:prstGeom prst="rect">
            <a:avLst/>
          </a:prstGeom>
          <a:solidFill>
            <a:srgbClr val="14263D"/>
          </a:solidFill>
          <a:ln w="12700">
            <a:solidFill>
              <a:srgbClr val="D8DC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/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Test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2606040"/>
            <a:ext cx="1463040" cy="566928"/>
          </a:xfrm>
          <a:prstGeom prst="rect">
            <a:avLst/>
          </a:prstGeom>
          <a:solidFill>
            <a:srgbClr val="F4F6F8"/>
          </a:solidFill>
          <a:ln w="12700">
            <a:solidFill>
              <a:srgbClr val="D8DC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/>
          <a:lstStyle/>
          <a:p>
            <a:pPr algn="ctr"/>
            <a:r>
              <a:rPr sz="1250" b="1" i="0">
                <a:solidFill>
                  <a:srgbClr val="2B2B2B"/>
                </a:solidFill>
                <a:latin typeface="Calibri"/>
              </a:rPr>
              <a:t>BR-01</a:t>
            </a:r>
          </a:p>
        </p:txBody>
      </p:sp>
      <p:sp>
        <p:nvSpPr>
          <p:cNvPr id="10" name="Rectangle 9"/>
          <p:cNvSpPr/>
          <p:nvPr/>
        </p:nvSpPr>
        <p:spPr>
          <a:xfrm>
            <a:off x="2194560" y="2606040"/>
            <a:ext cx="5303520" cy="566928"/>
          </a:xfrm>
          <a:prstGeom prst="rect">
            <a:avLst/>
          </a:prstGeom>
          <a:solidFill>
            <a:srgbClr val="F4F6F8"/>
          </a:solidFill>
          <a:ln w="12700">
            <a:solidFill>
              <a:srgbClr val="D8DC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/>
          <a:lstStyle/>
          <a:p>
            <a:pPr algn="l"/>
            <a:r>
              <a:rPr sz="1200" b="0" i="0">
                <a:solidFill>
                  <a:srgbClr val="2B2B2B"/>
                </a:solidFill>
                <a:latin typeface="Calibri"/>
              </a:rPr>
              <a:t>Robot reaches goal within 0.15 m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635240" y="2606040"/>
            <a:ext cx="3931920" cy="566928"/>
          </a:xfrm>
          <a:prstGeom prst="rect">
            <a:avLst/>
          </a:prstGeom>
          <a:solidFill>
            <a:srgbClr val="F4F6F8"/>
          </a:solidFill>
          <a:ln w="12700">
            <a:solidFill>
              <a:srgbClr val="D8DC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/>
          <a:lstStyle/>
          <a:p>
            <a:pPr algn="l"/>
            <a:r>
              <a:rPr sz="1150" b="0" i="0">
                <a:solidFill>
                  <a:srgbClr val="6B7280"/>
                </a:solidFill>
                <a:latin typeface="Calibri"/>
              </a:rPr>
              <a:t>test_navigation_succeeds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0080" y="3172968"/>
            <a:ext cx="146304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D8DC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/>
          <a:lstStyle/>
          <a:p>
            <a:pPr algn="ctr"/>
            <a:r>
              <a:rPr sz="1250" b="1" i="0">
                <a:solidFill>
                  <a:srgbClr val="2B2B2B"/>
                </a:solidFill>
                <a:latin typeface="Calibri"/>
              </a:rPr>
              <a:t>BR-02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194560" y="3172968"/>
            <a:ext cx="530352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D8DC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/>
          <a:lstStyle/>
          <a:p>
            <a:pPr algn="l"/>
            <a:r>
              <a:rPr sz="1200" b="0" i="0">
                <a:solidFill>
                  <a:srgbClr val="2B2B2B"/>
                </a:solidFill>
                <a:latin typeface="Calibri"/>
              </a:rPr>
              <a:t>Zero collisions per run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635240" y="3172968"/>
            <a:ext cx="393192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D8DC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/>
          <a:lstStyle/>
          <a:p>
            <a:pPr algn="l"/>
            <a:r>
              <a:rPr sz="1150" b="0" i="0">
                <a:solidFill>
                  <a:srgbClr val="6B7280"/>
                </a:solidFill>
                <a:latin typeface="Calibri"/>
              </a:rPr>
              <a:t>test_no_collision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40080" y="3739896"/>
            <a:ext cx="1463040" cy="566928"/>
          </a:xfrm>
          <a:prstGeom prst="rect">
            <a:avLst/>
          </a:prstGeom>
          <a:solidFill>
            <a:srgbClr val="F4F6F8"/>
          </a:solidFill>
          <a:ln w="12700">
            <a:solidFill>
              <a:srgbClr val="D8DC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/>
          <a:lstStyle/>
          <a:p>
            <a:pPr algn="ctr"/>
            <a:r>
              <a:rPr sz="1250" b="1" i="0">
                <a:solidFill>
                  <a:srgbClr val="2B2B2B"/>
                </a:solidFill>
                <a:latin typeface="Calibri"/>
              </a:rPr>
              <a:t>BR-04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194560" y="3739896"/>
            <a:ext cx="5303520" cy="566928"/>
          </a:xfrm>
          <a:prstGeom prst="rect">
            <a:avLst/>
          </a:prstGeom>
          <a:solidFill>
            <a:srgbClr val="F4F6F8"/>
          </a:solidFill>
          <a:ln w="12700">
            <a:solidFill>
              <a:srgbClr val="D8DC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/>
          <a:lstStyle/>
          <a:p>
            <a:pPr algn="l"/>
            <a:r>
              <a:rPr sz="1200" b="0" i="0">
                <a:solidFill>
                  <a:srgbClr val="2B2B2B"/>
                </a:solidFill>
                <a:latin typeface="Calibri"/>
              </a:rPr>
              <a:t>Odometry publishes ≥ 50 Hz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35240" y="3739896"/>
            <a:ext cx="3931920" cy="566928"/>
          </a:xfrm>
          <a:prstGeom prst="rect">
            <a:avLst/>
          </a:prstGeom>
          <a:solidFill>
            <a:srgbClr val="F4F6F8"/>
          </a:solidFill>
          <a:ln w="12700">
            <a:solidFill>
              <a:srgbClr val="D8DC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/>
          <a:lstStyle/>
          <a:p>
            <a:pPr algn="l"/>
            <a:r>
              <a:rPr sz="1150" b="0" i="0">
                <a:solidFill>
                  <a:srgbClr val="6B7280"/>
                </a:solidFill>
                <a:latin typeface="Calibri"/>
              </a:rPr>
              <a:t>test_odom_message_schema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40080" y="4306824"/>
            <a:ext cx="146304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D8DC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/>
          <a:lstStyle/>
          <a:p>
            <a:pPr algn="ctr"/>
            <a:r>
              <a:rPr sz="1250" b="1" i="0">
                <a:solidFill>
                  <a:srgbClr val="2B2B2B"/>
                </a:solidFill>
                <a:latin typeface="Calibri"/>
              </a:rPr>
              <a:t>BR-07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194560" y="4306824"/>
            <a:ext cx="530352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D8DC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/>
          <a:lstStyle/>
          <a:p>
            <a:pPr algn="l"/>
            <a:r>
              <a:rPr sz="1200" b="0" i="0">
                <a:solidFill>
                  <a:srgbClr val="2B2B2B"/>
                </a:solidFill>
                <a:latin typeface="Calibri"/>
              </a:rPr>
              <a:t>Nav success rate ≥ 95% (rolling 20 runs)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635240" y="4306824"/>
            <a:ext cx="393192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D8DC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/>
          <a:lstStyle/>
          <a:p>
            <a:pPr algn="l"/>
            <a:r>
              <a:rPr sz="1150" b="0" i="0">
                <a:solidFill>
                  <a:srgbClr val="6B7280"/>
                </a:solidFill>
                <a:latin typeface="Calibri"/>
              </a:rPr>
              <a:t>test_drift_detected_above_threshold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40080" y="4873752"/>
            <a:ext cx="1463040" cy="566928"/>
          </a:xfrm>
          <a:prstGeom prst="rect">
            <a:avLst/>
          </a:prstGeom>
          <a:solidFill>
            <a:srgbClr val="F4F6F8"/>
          </a:solidFill>
          <a:ln w="12700">
            <a:solidFill>
              <a:srgbClr val="D8DC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/>
          <a:lstStyle/>
          <a:p>
            <a:pPr algn="ctr"/>
            <a:r>
              <a:rPr sz="1250" b="1" i="0">
                <a:solidFill>
                  <a:srgbClr val="2B2B2B"/>
                </a:solidFill>
                <a:latin typeface="Calibri"/>
              </a:rPr>
              <a:t>SC-04 / SC-05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194560" y="4873752"/>
            <a:ext cx="5303520" cy="566928"/>
          </a:xfrm>
          <a:prstGeom prst="rect">
            <a:avLst/>
          </a:prstGeom>
          <a:solidFill>
            <a:srgbClr val="F4F6F8"/>
          </a:solidFill>
          <a:ln w="12700">
            <a:solidFill>
              <a:srgbClr val="D8DC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/>
          <a:lstStyle/>
          <a:p>
            <a:pPr algn="l"/>
            <a:r>
              <a:rPr sz="1200" b="0" i="0">
                <a:solidFill>
                  <a:srgbClr val="2B2B2B"/>
                </a:solidFill>
                <a:latin typeface="Calibri"/>
              </a:rPr>
              <a:t>Lidar / camera publish ≥ 10 Hz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635240" y="4873752"/>
            <a:ext cx="3931920" cy="566928"/>
          </a:xfrm>
          <a:prstGeom prst="rect">
            <a:avLst/>
          </a:prstGeom>
          <a:solidFill>
            <a:srgbClr val="F4F6F8"/>
          </a:solidFill>
          <a:ln w="12700">
            <a:solidFill>
              <a:srgbClr val="D8DC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/>
          <a:lstStyle/>
          <a:p>
            <a:pPr algn="l"/>
            <a:r>
              <a:rPr sz="1150" b="0" i="0">
                <a:solidFill>
                  <a:srgbClr val="6B7280"/>
                </a:solidFill>
                <a:latin typeface="Calibri"/>
              </a:rPr>
              <a:t>test_scan / test_camera_image_schema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40080" y="5440680"/>
            <a:ext cx="1463040" cy="566928"/>
          </a:xfrm>
          <a:prstGeom prst="rect">
            <a:avLst/>
          </a:prstGeom>
          <a:solidFill>
            <a:srgbClr val="FBEAE5"/>
          </a:solidFill>
          <a:ln w="12700">
            <a:solidFill>
              <a:srgbClr val="D8DC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/>
          <a:lstStyle/>
          <a:p>
            <a:pPr algn="ctr"/>
            <a:r>
              <a:rPr sz="1250" b="1" i="0">
                <a:solidFill>
                  <a:srgbClr val="2B2B2B"/>
                </a:solidFill>
                <a:latin typeface="Calibri"/>
              </a:rPr>
              <a:t>BR-03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194560" y="5440680"/>
            <a:ext cx="5303520" cy="566928"/>
          </a:xfrm>
          <a:prstGeom prst="rect">
            <a:avLst/>
          </a:prstGeom>
          <a:solidFill>
            <a:srgbClr val="FBEAE5"/>
          </a:solidFill>
          <a:ln w="12700">
            <a:solidFill>
              <a:srgbClr val="D8DC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/>
          <a:lstStyle/>
          <a:p>
            <a:pPr algn="l"/>
            <a:r>
              <a:rPr sz="1200" b="0" i="0">
                <a:solidFill>
                  <a:srgbClr val="2B2B2B"/>
                </a:solidFill>
                <a:latin typeface="Calibri"/>
              </a:rPr>
              <a:t>Recovery behavior (backup/spin)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635240" y="5440680"/>
            <a:ext cx="3931920" cy="566928"/>
          </a:xfrm>
          <a:prstGeom prst="rect">
            <a:avLst/>
          </a:prstGeom>
          <a:solidFill>
            <a:srgbClr val="FBEAE5"/>
          </a:solidFill>
          <a:ln w="12700">
            <a:solidFill>
              <a:srgbClr val="D8DC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/>
          <a:lstStyle/>
          <a:p>
            <a:pPr algn="l"/>
            <a:r>
              <a:rPr sz="1150" b="1" i="1">
                <a:solidFill>
                  <a:srgbClr val="E76F51"/>
                </a:solidFill>
                <a:latin typeface="Calibri"/>
              </a:rPr>
              <a:t>no test yet — tracked as a real, open gap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02920" y="6510528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B7280"/>
                </a:solidFill>
                <a:latin typeface="Calibri"/>
              </a:rPr>
              <a:t>autonomous-fleet-testbed  ·  requirements/traceability.yaml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26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09728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2A9D8F"/>
                </a:solidFill>
                <a:latin typeface="Calibri"/>
              </a:rPr>
              <a:t>DISCIPLINE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384048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Drift Detection — Behavioral Regression, Not Just Pass/Fail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600200"/>
            <a:ext cx="612648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</a:pPr>
            <a:r>
              <a:rPr b="1" sz="1500">
                <a:solidFill>
                  <a:srgbClr val="2A9D8F"/>
                </a:solidFill>
                <a:latin typeface="Calibri"/>
              </a:rPr>
              <a:t>•  Rolling baseline</a:t>
            </a:r>
            <a:r>
              <a:rPr sz="1500">
                <a:solidFill>
                  <a:srgbClr val="2B2B2B"/>
                </a:solidFill>
                <a:latin typeface="Calibri"/>
              </a:rPr>
              <a:t>  Every metric compared against the last 20 PASS runs, not a fixed absolute number.</a:t>
            </a:r>
          </a:p>
          <a:p>
            <a:pPr>
              <a:spcAft>
                <a:spcPts val="1600"/>
              </a:spcAft>
            </a:pPr>
            <a:r>
              <a:rPr b="1" sz="1500">
                <a:solidFill>
                  <a:srgbClr val="2A9D8F"/>
                </a:solidFill>
                <a:latin typeface="Calibri"/>
              </a:rPr>
              <a:t>•  Sigma-threshold flagging</a:t>
            </a:r>
            <a:r>
              <a:rPr sz="1500">
                <a:solidFill>
                  <a:srgbClr val="2B2B2B"/>
                </a:solidFill>
                <a:latin typeface="Calibri"/>
              </a:rPr>
              <a:t>  A run more than 2σ from the historical mean gets flagged for investigation.</a:t>
            </a:r>
          </a:p>
          <a:p>
            <a:pPr>
              <a:spcAft>
                <a:spcPts val="1600"/>
              </a:spcAft>
            </a:pPr>
            <a:r>
              <a:rPr b="1" sz="1500">
                <a:solidFill>
                  <a:srgbClr val="2A9D8F"/>
                </a:solidFill>
                <a:latin typeface="Calibri"/>
              </a:rPr>
              <a:t>•  Config as data</a:t>
            </a:r>
            <a:r>
              <a:rPr sz="1500">
                <a:solidFill>
                  <a:srgbClr val="2B2B2B"/>
                </a:solidFill>
                <a:latin typeface="Calibri"/>
              </a:rPr>
              <a:t>  Thresholds live in config/drift_config.yaml — never hardcoded in Python.</a:t>
            </a:r>
          </a:p>
          <a:p>
            <a:pPr>
              <a:spcAft>
                <a:spcPts val="1600"/>
              </a:spcAft>
            </a:pPr>
            <a:r>
              <a:rPr b="1" sz="1500">
                <a:solidFill>
                  <a:srgbClr val="2A9D8F"/>
                </a:solidFill>
                <a:latin typeface="Calibri"/>
              </a:rPr>
              <a:t>•  Verified for real</a:t>
            </a:r>
            <a:r>
              <a:rPr sz="1500">
                <a:solidFill>
                  <a:srgbClr val="2B2B2B"/>
                </a:solidFill>
                <a:latin typeface="Calibri"/>
              </a:rPr>
              <a:t>  Seeded 9 realistic runs, injected one 10x position-error outlier — flagged at sigma = 122, everything else stayed clean.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132320" y="1737360"/>
            <a:ext cx="4389120" cy="3566160"/>
          </a:xfrm>
          <a:prstGeom prst="roundRect">
            <a:avLst/>
          </a:prstGeom>
          <a:solidFill>
            <a:srgbClr val="F4F6F8"/>
          </a:solidFill>
          <a:ln w="12700">
            <a:solidFill>
              <a:srgbClr val="2A9D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/>
          <a:lstStyle/>
          <a:p>
            <a:pPr algn="ctr"/>
            <a:r>
              <a:rPr sz="1300" b="1" i="0">
                <a:solidFill>
                  <a:srgbClr val="2B2B2B"/>
                </a:solidFill>
                <a:latin typeface="Calibri"/>
              </a:rPr>
              <a:t/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60920" y="1920240"/>
            <a:ext cx="3931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2A9D8F"/>
                </a:solidFill>
                <a:latin typeface="Calibri"/>
              </a:rPr>
              <a:t>baseline_monitor.py — real output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60920" y="2331720"/>
            <a:ext cx="3931920" cy="2834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B2B2B"/>
                </a:solidFill>
                <a:latin typeface="Consolas"/>
              </a:rPr>
              <a:t>Baseline drift report — run 11</a:t>
            </a:r>
          </a:p>
          <a:p>
            <a:pPr algn="l"/>
            <a:r>
              <a:rPr sz="1100" b="0" i="0">
                <a:solidFill>
                  <a:srgbClr val="2B2B2B"/>
                </a:solidFill>
                <a:latin typeface="Consolas"/>
              </a:rPr>
              <a:t>--------------------------------------------</a:t>
            </a:r>
          </a:p>
          <a:p>
            <a:pPr algn="l"/>
            <a:r>
              <a:rPr sz="1100" b="0" i="0">
                <a:solidFill>
                  <a:srgbClr val="2B2B2B"/>
                </a:solidFill>
                <a:latin typeface="Consolas"/>
              </a:rPr>
              <a:t>FLAGGED  mean_position_error   sigma=122.0</a:t>
            </a:r>
          </a:p>
          <a:p>
            <a:pPr algn="l"/>
            <a:r>
              <a:rPr sz="1100" b="0" i="0">
                <a:solidFill>
                  <a:srgbClr val="2B2B2B"/>
                </a:solidFill>
                <a:latin typeface="Consolas"/>
              </a:rPr>
              <a:t>OK       mean_time_to_goal     sigma=0.3</a:t>
            </a:r>
          </a:p>
          <a:p>
            <a:pPr algn="l"/>
            <a:r>
              <a:rPr sz="1100" b="0" i="0">
                <a:solidFill>
                  <a:srgbClr val="2B2B2B"/>
                </a:solidFill>
                <a:latin typeface="Consolas"/>
              </a:rPr>
              <a:t>OK       odom_hz_mean          sigma=0.5</a:t>
            </a:r>
          </a:p>
          <a:p>
            <a:pPr algn="l"/>
            <a:r>
              <a:rPr sz="1100" b="0" i="0">
                <a:solidFill>
                  <a:srgbClr val="2B2B2B"/>
                </a:solidFill>
                <a:latin typeface="Consolas"/>
              </a:rPr>
              <a:t>OK       lidar_hz_mean         sigma=0.0</a:t>
            </a:r>
          </a:p>
          <a:p>
            <a:pPr algn="l"/>
            <a:r>
              <a:rPr sz="1100" b="0" i="0">
                <a:solidFill>
                  <a:srgbClr val="2B2B2B"/>
                </a:solidFill>
                <a:latin typeface="Consolas"/>
              </a:rPr>
              <a:t>OK       camera_hz_mean        sigma=0.5</a:t>
            </a:r>
          </a:p>
          <a:p>
            <a:pPr algn="l"/>
            <a:r>
              <a:rPr sz="1100" b="0" i="0">
                <a:solidFill>
                  <a:srgbClr val="2B2B2B"/>
                </a:solidFill>
                <a:latin typeface="Consolas"/>
              </a:rPr>
              <a:t>--------------------------------------------</a:t>
            </a:r>
          </a:p>
          <a:p>
            <a:pPr algn="l"/>
            <a:r>
              <a:rPr sz="1100" b="0" i="0">
                <a:solidFill>
                  <a:srgbClr val="2B2B2B"/>
                </a:solidFill>
                <a:latin typeface="Consolas"/>
              </a:rPr>
              <a:t>1 metric(s) flagged — investigate before release.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6510528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B7280"/>
                </a:solidFill>
                <a:latin typeface="Calibri"/>
              </a:rPr>
              <a:t>autonomous-fleet-testbed  ·  tools/baseline_monitor.py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263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E76F51"/>
                </a:solidFill>
                <a:latin typeface="Calibri"/>
              </a:rPr>
              <a:t>THE DIFFERENTIATOR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4008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"/>
              </a:rPr>
              <a:t>Agentic Test-and-Heal Loop</a:t>
            </a:r>
          </a:p>
        </p:txBody>
      </p:sp>
      <p:sp>
        <p:nvSpPr>
          <p:cNvPr id="4" name="Oval 3"/>
          <p:cNvSpPr/>
          <p:nvPr/>
        </p:nvSpPr>
        <p:spPr>
          <a:xfrm>
            <a:off x="1286103" y="2194560"/>
            <a:ext cx="548640" cy="548640"/>
          </a:xfrm>
          <a:prstGeom prst="ellipse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0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54583" y="288036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Read Telemetry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54583" y="3291839"/>
            <a:ext cx="20116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C8D3DC"/>
                </a:solidFill>
                <a:latin typeface="Calibri"/>
              </a:rPr>
              <a:t>Latest run + rolling</a:t>
            </a:r>
          </a:p>
          <a:p>
            <a:pPr algn="ctr"/>
            <a:r>
              <a:rPr sz="1100" b="0" i="0">
                <a:solidFill>
                  <a:srgbClr val="C8D3DC"/>
                </a:solidFill>
                <a:latin typeface="Calibri"/>
              </a:rPr>
              <a:t>drift report from SQLite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2593695" y="2468879"/>
            <a:ext cx="201168" cy="0"/>
          </a:xfrm>
          <a:prstGeom prst="line">
            <a:avLst/>
          </a:prstGeom>
          <a:ln w="25400">
            <a:solidFill>
              <a:srgbClr val="8A9BAC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Oval 7"/>
          <p:cNvSpPr/>
          <p:nvPr/>
        </p:nvSpPr>
        <p:spPr>
          <a:xfrm>
            <a:off x="3553815" y="2194560"/>
            <a:ext cx="548640" cy="548640"/>
          </a:xfrm>
          <a:prstGeom prst="ellipse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0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822295" y="288036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Diagnose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822295" y="3291839"/>
            <a:ext cx="20116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C8D3DC"/>
                </a:solidFill>
                <a:latin typeface="Calibri"/>
              </a:rPr>
              <a:t>Claude analyzes the</a:t>
            </a:r>
          </a:p>
          <a:p>
            <a:pPr algn="ctr"/>
            <a:r>
              <a:rPr sz="1100" b="0" i="0">
                <a:solidFill>
                  <a:srgbClr val="C8D3DC"/>
                </a:solidFill>
                <a:latin typeface="Calibri"/>
              </a:rPr>
              <a:t>failure or opportunity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4861407" y="2468879"/>
            <a:ext cx="201168" cy="0"/>
          </a:xfrm>
          <a:prstGeom prst="line">
            <a:avLst/>
          </a:prstGeom>
          <a:ln w="25400">
            <a:solidFill>
              <a:srgbClr val="8A9BAC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Oval 11"/>
          <p:cNvSpPr/>
          <p:nvPr/>
        </p:nvSpPr>
        <p:spPr>
          <a:xfrm>
            <a:off x="5821527" y="2194560"/>
            <a:ext cx="548640" cy="548640"/>
          </a:xfrm>
          <a:prstGeom prst="ellipse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0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90007" y="288036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Propose ONE Action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90007" y="3291839"/>
            <a:ext cx="20116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C8D3DC"/>
                </a:solidFill>
                <a:latin typeface="Calibri"/>
              </a:rPr>
              <a:t>Nav param tweak, harder</a:t>
            </a:r>
          </a:p>
          <a:p>
            <a:pPr algn="ctr"/>
            <a:r>
              <a:rPr sz="1100" b="0" i="0">
                <a:solidFill>
                  <a:srgbClr val="C8D3DC"/>
                </a:solidFill>
                <a:latin typeface="Calibri"/>
              </a:rPr>
              <a:t>world, or mission plan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7129119" y="2468879"/>
            <a:ext cx="201168" cy="0"/>
          </a:xfrm>
          <a:prstGeom prst="line">
            <a:avLst/>
          </a:prstGeom>
          <a:ln w="25400">
            <a:solidFill>
              <a:srgbClr val="8A9BAC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Oval 15"/>
          <p:cNvSpPr/>
          <p:nvPr/>
        </p:nvSpPr>
        <p:spPr>
          <a:xfrm>
            <a:off x="8089239" y="2194560"/>
            <a:ext cx="548640" cy="548640"/>
          </a:xfrm>
          <a:prstGeom prst="ellipse">
            <a:avLst/>
          </a:prstGeom>
          <a:solidFill>
            <a:srgbClr val="E76F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0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57719" y="288036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Human Approval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57719" y="3291839"/>
            <a:ext cx="20116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C8D3DC"/>
                </a:solidFill>
                <a:latin typeface="Calibri"/>
              </a:rPr>
              <a:t>Nothing is applied</a:t>
            </a:r>
          </a:p>
          <a:p>
            <a:pPr algn="ctr"/>
            <a:r>
              <a:rPr sz="1100" b="0" i="0">
                <a:solidFill>
                  <a:srgbClr val="C8D3DC"/>
                </a:solidFill>
                <a:latin typeface="Calibri"/>
              </a:rPr>
              <a:t>without a human "yes"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9396831" y="2468879"/>
            <a:ext cx="201168" cy="0"/>
          </a:xfrm>
          <a:prstGeom prst="line">
            <a:avLst/>
          </a:prstGeom>
          <a:ln w="25400">
            <a:solidFill>
              <a:srgbClr val="8A9BAC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Oval 19"/>
          <p:cNvSpPr/>
          <p:nvPr/>
        </p:nvSpPr>
        <p:spPr>
          <a:xfrm>
            <a:off x="10356951" y="2194560"/>
            <a:ext cx="548640" cy="548640"/>
          </a:xfrm>
          <a:prstGeom prst="ellipse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000" b="1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625431" y="288036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Apply + Re-test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625431" y="3291839"/>
            <a:ext cx="20116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C8D3DC"/>
                </a:solidFill>
                <a:latin typeface="Calibri"/>
              </a:rPr>
              <a:t>Change lands, pipeline</a:t>
            </a:r>
          </a:p>
          <a:p>
            <a:pPr algn="ctr"/>
            <a:r>
              <a:rPr sz="1100" b="0" i="0">
                <a:solidFill>
                  <a:srgbClr val="C8D3DC"/>
                </a:solidFill>
                <a:latin typeface="Calibri"/>
              </a:rPr>
              <a:t>runs again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4400" y="5257800"/>
            <a:ext cx="10332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1">
                <a:solidFill>
                  <a:srgbClr val="FFFFFF"/>
                </a:solidFill>
                <a:latin typeface="Calibri"/>
              </a:rPr>
              <a:t>Human-in-the-loop by design. Full unattended autonomy is roadmap, not a claim — under-claim, over-deliver.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4400" y="6126480"/>
            <a:ext cx="10332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8A9BAC"/>
                </a:solidFill>
                <a:latin typeface="Calibri"/>
              </a:rPr>
              <a:t>Session 13 · tools/agentic_loop.py · built on the real drift detector, not hardcoded thresholds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26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09728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2A9D8F"/>
                </a:solidFill>
                <a:latin typeface="Calibri"/>
              </a:rPr>
              <a:t>MULTI-SIM VALIDATION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384048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Two Engines, One Test Suite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1737360"/>
            <a:ext cx="5029200" cy="3749039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2A9D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/>
          <a:lstStyle/>
          <a:p>
            <a:pPr algn="ctr"/>
            <a:r>
              <a:rPr sz="1300" b="1" i="0">
                <a:solidFill>
                  <a:srgbClr val="2B2B2B"/>
                </a:solidFill>
                <a:latin typeface="Calibri"/>
              </a:rPr>
              <a:t/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192024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2A9D8F"/>
                </a:solidFill>
                <a:latin typeface="Calibri"/>
              </a:rPr>
              <a:t>GAZEBO HARMONIC — Throughput Tier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423160"/>
            <a:ext cx="448056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300">
                <a:solidFill>
                  <a:srgbClr val="2B2B2B"/>
                </a:solidFill>
                <a:latin typeface="Calibri"/>
              </a:rPr>
              <a:t>•  Fast, headless — seconds per full run</a:t>
            </a:r>
          </a:p>
          <a:p>
            <a:pPr>
              <a:spcAft>
                <a:spcPts val="1000"/>
              </a:spcAft>
            </a:pPr>
            <a:r>
              <a:rPr sz="1300">
                <a:solidFill>
                  <a:srgbClr val="2B2B2B"/>
                </a:solidFill>
                <a:latin typeface="Calibri"/>
              </a:rPr>
              <a:t>•  CI-native, self-hosted RTX 5080 runner</a:t>
            </a:r>
          </a:p>
          <a:p>
            <a:pPr>
              <a:spcAft>
                <a:spcPts val="1000"/>
              </a:spcAft>
            </a:pPr>
            <a:r>
              <a:rPr sz="1300">
                <a:solidFill>
                  <a:srgbClr val="2B2B2B"/>
                </a:solidFill>
                <a:latin typeface="Calibri"/>
              </a:rPr>
              <a:t>•  Nav2 + SMAC 2D planner, RPP controller</a:t>
            </a:r>
          </a:p>
          <a:p>
            <a:pPr>
              <a:spcAft>
                <a:spcPts val="1000"/>
              </a:spcAft>
            </a:pPr>
            <a:r>
              <a:rPr sz="1300">
                <a:solidFill>
                  <a:srgbClr val="2B2B2B"/>
                </a:solidFill>
                <a:latin typeface="Calibri"/>
              </a:rPr>
              <a:t>•  Runs on every push (stage-3-gazebo)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09360" y="1737360"/>
            <a:ext cx="5029200" cy="3749039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76F5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/>
          <a:lstStyle/>
          <a:p>
            <a:pPr algn="ctr"/>
            <a:r>
              <a:rPr sz="1300" b="1" i="0">
                <a:solidFill>
                  <a:srgbClr val="2B2B2B"/>
                </a:solidFill>
                <a:latin typeface="Calibri"/>
              </a:rPr>
              <a:t/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0" y="192024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E76F51"/>
                </a:solidFill>
                <a:latin typeface="Calibri"/>
              </a:rPr>
              <a:t>ISAAC SIM — Fidelity Tier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0" y="2423160"/>
            <a:ext cx="448056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300">
                <a:solidFill>
                  <a:srgbClr val="2B2B2B"/>
                </a:solidFill>
                <a:latin typeface="Calibri"/>
              </a:rPr>
              <a:t>•  Photorealistic rendering, PhysX physics</a:t>
            </a:r>
          </a:p>
          <a:p>
            <a:pPr>
              <a:spcAft>
                <a:spcPts val="1000"/>
              </a:spcAft>
            </a:pPr>
            <a:r>
              <a:rPr sz="1300">
                <a:solidFill>
                  <a:srgbClr val="2B2B2B"/>
                </a:solidFill>
                <a:latin typeface="Calibri"/>
              </a:rPr>
              <a:t>•  Perception-grade sensor simulation</a:t>
            </a:r>
          </a:p>
          <a:p>
            <a:pPr>
              <a:spcAft>
                <a:spcPts val="1000"/>
              </a:spcAft>
            </a:pPr>
            <a:r>
              <a:rPr sz="1300">
                <a:solidFill>
                  <a:srgbClr val="2B2B2B"/>
                </a:solidFill>
                <a:latin typeface="Calibri"/>
              </a:rPr>
              <a:t>•  Same test file, same telemetry schema</a:t>
            </a:r>
          </a:p>
          <a:p>
            <a:pPr>
              <a:spcAft>
                <a:spcPts val="1000"/>
              </a:spcAft>
            </a:pPr>
            <a:r>
              <a:rPr sz="1300">
                <a:solidFill>
                  <a:srgbClr val="2B2B2B"/>
                </a:solidFill>
                <a:latin typeface="Calibri"/>
              </a:rPr>
              <a:t>•  Runs on every push (stage-4-isaac)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566928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1">
                <a:solidFill>
                  <a:srgbClr val="6B7280"/>
                </a:solidFill>
                <a:latin typeface="Calibri"/>
              </a:rPr>
              <a:t>Same tests/test_navigation.py, same telemetry_logger, same drift_config.yaml thresholds — different physics engine underneath.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6510528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B7280"/>
                </a:solidFill>
                <a:latin typeface="Calibri"/>
              </a:rPr>
              <a:t>autonomous-fleet-testbed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26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09728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2A9D8F"/>
                </a:solidFill>
                <a:latin typeface="Calibri"/>
              </a:rPr>
              <a:t>MEASURED, NOT SIMULATED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384048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Real Numbers From Real CI Runs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99719" y="1691640"/>
            <a:ext cx="2606040" cy="1371600"/>
          </a:xfrm>
          <a:prstGeom prst="roundRect">
            <a:avLst/>
          </a:prstGeom>
          <a:solidFill>
            <a:srgbClr val="14263D"/>
          </a:solidFill>
          <a:ln w="12700">
            <a:solidFill>
              <a:srgbClr val="D8DC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/>
          <a:lstStyle/>
          <a:p>
            <a:pPr algn="ctr"/>
            <a:r>
              <a:rPr sz="3000" b="1" i="0">
                <a:solidFill>
                  <a:srgbClr val="FFFFFF"/>
                </a:solidFill>
                <a:latin typeface="Calibri"/>
              </a:rPr>
              <a:t>~1s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99719" y="3200400"/>
            <a:ext cx="26060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6B7280"/>
                </a:solidFill>
                <a:latin typeface="Calibri"/>
              </a:rPr>
              <a:t>x86 native colcon build</a:t>
            </a:r>
          </a:p>
          <a:p>
            <a:pPr algn="ctr"/>
            <a:r>
              <a:rPr sz="1200" b="0" i="0">
                <a:solidFill>
                  <a:srgbClr val="6B7280"/>
                </a:solidFill>
                <a:latin typeface="Calibri"/>
              </a:rPr>
              <a:t>(vs. 23+ min QEMU)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361791" y="1691640"/>
            <a:ext cx="2606040" cy="1371600"/>
          </a:xfrm>
          <a:prstGeom prst="roundRect">
            <a:avLst/>
          </a:prstGeom>
          <a:solidFill>
            <a:srgbClr val="14263D"/>
          </a:solidFill>
          <a:ln w="12700">
            <a:solidFill>
              <a:srgbClr val="D8DC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/>
          <a:lstStyle/>
          <a:p>
            <a:pPr algn="ctr"/>
            <a:r>
              <a:rPr sz="3000" b="1" i="0">
                <a:solidFill>
                  <a:srgbClr val="FFFFFF"/>
                </a:solidFill>
                <a:latin typeface="Calibri"/>
              </a:rPr>
              <a:t>52s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361791" y="3200400"/>
            <a:ext cx="26060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6B7280"/>
                </a:solidFill>
                <a:latin typeface="Calibri"/>
              </a:rPr>
              <a:t>Gazebo stage — cold start</a:t>
            </a:r>
          </a:p>
          <a:p>
            <a:pPr algn="ctr"/>
            <a:r>
              <a:rPr sz="1200" b="0" i="0">
                <a:solidFill>
                  <a:srgbClr val="6B7280"/>
                </a:solidFill>
                <a:latin typeface="Calibri"/>
              </a:rPr>
              <a:t>through 3 nav tests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23863" y="1691640"/>
            <a:ext cx="2606040" cy="1371600"/>
          </a:xfrm>
          <a:prstGeom prst="roundRect">
            <a:avLst/>
          </a:prstGeom>
          <a:solidFill>
            <a:srgbClr val="14263D"/>
          </a:solidFill>
          <a:ln w="12700">
            <a:solidFill>
              <a:srgbClr val="D8DC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/>
          <a:lstStyle/>
          <a:p>
            <a:pPr algn="ctr"/>
            <a:r>
              <a:rPr sz="3000" b="1" i="0">
                <a:solidFill>
                  <a:srgbClr val="FFFFFF"/>
                </a:solidFill>
                <a:latin typeface="Calibri"/>
              </a:rPr>
              <a:t>100s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23863" y="3200400"/>
            <a:ext cx="26060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6B7280"/>
                </a:solidFill>
                <a:latin typeface="Calibri"/>
              </a:rPr>
              <a:t>Isaac Sim stage — cold start</a:t>
            </a:r>
          </a:p>
          <a:p>
            <a:pPr algn="ctr"/>
            <a:r>
              <a:rPr sz="1200" b="0" i="0">
                <a:solidFill>
                  <a:srgbClr val="6B7280"/>
                </a:solidFill>
                <a:latin typeface="Calibri"/>
              </a:rPr>
              <a:t>through 3 nav tests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085935" y="1691640"/>
            <a:ext cx="2606040" cy="1371600"/>
          </a:xfrm>
          <a:prstGeom prst="roundRect">
            <a:avLst/>
          </a:prstGeom>
          <a:solidFill>
            <a:srgbClr val="14263D"/>
          </a:solidFill>
          <a:ln w="12700">
            <a:solidFill>
              <a:srgbClr val="D8DC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/>
          <a:lstStyle/>
          <a:p>
            <a:pPr algn="ctr"/>
            <a:r>
              <a:rPr sz="3000" b="1" i="0">
                <a:solidFill>
                  <a:srgbClr val="FFFFFF"/>
                </a:solidFill>
                <a:latin typeface="Calibri"/>
              </a:rPr>
              <a:t>24m31s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85935" y="3200400"/>
            <a:ext cx="26060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6B7280"/>
                </a:solidFill>
                <a:latin typeface="Calibri"/>
              </a:rPr>
              <a:t>arm64 image build</a:t>
            </a:r>
          </a:p>
          <a:p>
            <a:pPr algn="ctr"/>
            <a:r>
              <a:rPr sz="1200" b="0" i="0">
                <a:solidFill>
                  <a:srgbClr val="6B7280"/>
                </a:solidFill>
                <a:latin typeface="Calibri"/>
              </a:rPr>
              <a:t>(QEMU cross-compile, x86)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4297680"/>
            <a:ext cx="10881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2B2B2B"/>
                </a:solidFill>
                <a:latin typeface="Calibri"/>
              </a:rPr>
              <a:t>From one real logged navigation run (Gazebo, Session 12):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4754880"/>
            <a:ext cx="1033272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400">
                <a:solidFill>
                  <a:srgbClr val="2B2B2B"/>
                </a:solidFill>
                <a:latin typeface="Calibri"/>
              </a:rPr>
              <a:t>•  Position error: 0.15–0.18 m (within Nav2's 0.15 m goal tolerance)</a:t>
            </a:r>
          </a:p>
          <a:p>
            <a:pPr>
              <a:spcAft>
                <a:spcPts val="800"/>
              </a:spcAft>
            </a:pPr>
            <a:r>
              <a:rPr sz="1400">
                <a:solidFill>
                  <a:srgbClr val="2B2B2B"/>
                </a:solidFill>
                <a:latin typeface="Calibri"/>
              </a:rPr>
              <a:t>•  Odometry: 50.6 Hz  ·  LiDAR: 10.4–10.6 Hz  ·  Camera: 10.4–10.6 Hz</a:t>
            </a:r>
          </a:p>
          <a:p>
            <a:pPr>
              <a:spcAft>
                <a:spcPts val="800"/>
              </a:spcAft>
            </a:pPr>
            <a:r>
              <a:rPr sz="1400">
                <a:solidFill>
                  <a:srgbClr val="2B2B2B"/>
                </a:solidFill>
                <a:latin typeface="Calibri"/>
              </a:rPr>
              <a:t>•  Zero collisions · logged automatically to SQLite, validated by a Pandera schema gate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6510528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B7280"/>
                </a:solidFill>
                <a:latin typeface="Calibri"/>
              </a:rPr>
              <a:t>autonomous-fleet-testbed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26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09728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2A9D8F"/>
                </a:solidFill>
                <a:latin typeface="Calibri"/>
              </a:rPr>
              <a:t>STACK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384048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Built On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600200"/>
            <a:ext cx="3611880" cy="2286000"/>
          </a:xfrm>
          <a:prstGeom prst="rect">
            <a:avLst/>
          </a:prstGeom>
          <a:solidFill>
            <a:srgbClr val="F4F6F8"/>
          </a:solidFill>
          <a:ln w="12700">
            <a:solidFill>
              <a:srgbClr val="D8DC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/>
          <a:lstStyle/>
          <a:p>
            <a:pPr algn="ctr"/>
            <a:r>
              <a:rPr sz="1300" b="1" i="0">
                <a:solidFill>
                  <a:srgbClr val="2B2B2B"/>
                </a:solidFill>
                <a:latin typeface="Calibri"/>
              </a:rPr>
              <a:t/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59" y="1737360"/>
            <a:ext cx="3246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2A9D8F"/>
                </a:solidFill>
                <a:latin typeface="Calibri"/>
              </a:rPr>
              <a:t>Robot Software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59" y="2148840"/>
            <a:ext cx="32461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200">
                <a:solidFill>
                  <a:srgbClr val="2B2B2B"/>
                </a:solidFill>
                <a:latin typeface="Calibri"/>
              </a:rPr>
              <a:t>•  ROS2 Jazzy</a:t>
            </a:r>
          </a:p>
          <a:p>
            <a:pPr>
              <a:spcAft>
                <a:spcPts val="600"/>
              </a:spcAft>
            </a:pPr>
            <a:r>
              <a:rPr sz="1200">
                <a:solidFill>
                  <a:srgbClr val="2B2B2B"/>
                </a:solidFill>
                <a:latin typeface="Calibri"/>
              </a:rPr>
              <a:t>•  Nav2 (SMAC 2D, RPP)</a:t>
            </a:r>
          </a:p>
          <a:p>
            <a:pPr>
              <a:spcAft>
                <a:spcPts val="600"/>
              </a:spcAft>
            </a:pPr>
            <a:r>
              <a:rPr sz="1200">
                <a:solidFill>
                  <a:srgbClr val="2B2B2B"/>
                </a:solidFill>
                <a:latin typeface="Calibri"/>
              </a:rPr>
              <a:t>•  CycloneDDS</a:t>
            </a:r>
          </a:p>
        </p:txBody>
      </p:sp>
      <p:sp>
        <p:nvSpPr>
          <p:cNvPr id="8" name="Rectangle 7"/>
          <p:cNvSpPr/>
          <p:nvPr/>
        </p:nvSpPr>
        <p:spPr>
          <a:xfrm>
            <a:off x="4434840" y="1600200"/>
            <a:ext cx="3611880" cy="2286000"/>
          </a:xfrm>
          <a:prstGeom prst="rect">
            <a:avLst/>
          </a:prstGeom>
          <a:solidFill>
            <a:srgbClr val="F4F6F8"/>
          </a:solidFill>
          <a:ln w="12700">
            <a:solidFill>
              <a:srgbClr val="D8DC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/>
          <a:lstStyle/>
          <a:p>
            <a:pPr algn="ctr"/>
            <a:r>
              <a:rPr sz="1300" b="1" i="0">
                <a:solidFill>
                  <a:srgbClr val="2B2B2B"/>
                </a:solidFill>
                <a:latin typeface="Calibri"/>
              </a:rPr>
              <a:t/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617720" y="1737360"/>
            <a:ext cx="3246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2A9D8F"/>
                </a:solidFill>
                <a:latin typeface="Calibri"/>
              </a:rPr>
              <a:t>Simulation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617720" y="2148840"/>
            <a:ext cx="32461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200">
                <a:solidFill>
                  <a:srgbClr val="2B2B2B"/>
                </a:solidFill>
                <a:latin typeface="Calibri"/>
              </a:rPr>
              <a:t>•  Gazebo Harmonic</a:t>
            </a:r>
          </a:p>
          <a:p>
            <a:pPr>
              <a:spcAft>
                <a:spcPts val="600"/>
              </a:spcAft>
            </a:pPr>
            <a:r>
              <a:rPr sz="1200">
                <a:solidFill>
                  <a:srgbClr val="2B2B2B"/>
                </a:solidFill>
                <a:latin typeface="Calibri"/>
              </a:rPr>
              <a:t>•  Isaac Sim 6.0</a:t>
            </a:r>
          </a:p>
          <a:p>
            <a:pPr>
              <a:spcAft>
                <a:spcPts val="600"/>
              </a:spcAft>
            </a:pPr>
            <a:r>
              <a:rPr sz="1200">
                <a:solidFill>
                  <a:srgbClr val="2B2B2B"/>
                </a:solidFill>
                <a:latin typeface="Calibri"/>
              </a:rPr>
              <a:t>•  PhysX / OGRE2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29600" y="1600200"/>
            <a:ext cx="3611880" cy="2286000"/>
          </a:xfrm>
          <a:prstGeom prst="rect">
            <a:avLst/>
          </a:prstGeom>
          <a:solidFill>
            <a:srgbClr val="F4F6F8"/>
          </a:solidFill>
          <a:ln w="12700">
            <a:solidFill>
              <a:srgbClr val="D8DC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/>
          <a:lstStyle/>
          <a:p>
            <a:pPr algn="ctr"/>
            <a:r>
              <a:rPr sz="1300" b="1" i="0">
                <a:solidFill>
                  <a:srgbClr val="2B2B2B"/>
                </a:solidFill>
                <a:latin typeface="Calibri"/>
              </a:rPr>
              <a:t/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412480" y="1737360"/>
            <a:ext cx="3246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2A9D8F"/>
                </a:solidFill>
                <a:latin typeface="Calibri"/>
              </a:rPr>
              <a:t>CI/CD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412480" y="2148840"/>
            <a:ext cx="32461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200">
                <a:solidFill>
                  <a:srgbClr val="2B2B2B"/>
                </a:solidFill>
                <a:latin typeface="Calibri"/>
              </a:rPr>
              <a:t>•  GitHub Actions</a:t>
            </a:r>
          </a:p>
          <a:p>
            <a:pPr>
              <a:spcAft>
                <a:spcPts val="600"/>
              </a:spcAft>
            </a:pPr>
            <a:r>
              <a:rPr sz="1200">
                <a:solidFill>
                  <a:srgbClr val="2B2B2B"/>
                </a:solidFill>
                <a:latin typeface="Calibri"/>
              </a:rPr>
              <a:t>•  Self-hosted RTX 5080 runner</a:t>
            </a:r>
          </a:p>
          <a:p>
            <a:pPr>
              <a:spcAft>
                <a:spcPts val="600"/>
              </a:spcAft>
            </a:pPr>
            <a:r>
              <a:rPr sz="1200">
                <a:solidFill>
                  <a:srgbClr val="2B2B2B"/>
                </a:solidFill>
                <a:latin typeface="Calibri"/>
              </a:rPr>
              <a:t>•  Docker Buildx + QEMU (arm64)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40080" y="4114800"/>
            <a:ext cx="3611880" cy="2286000"/>
          </a:xfrm>
          <a:prstGeom prst="rect">
            <a:avLst/>
          </a:prstGeom>
          <a:solidFill>
            <a:srgbClr val="F4F6F8"/>
          </a:solidFill>
          <a:ln w="12700">
            <a:solidFill>
              <a:srgbClr val="D8DC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/>
          <a:lstStyle/>
          <a:p>
            <a:pPr algn="ctr"/>
            <a:r>
              <a:rPr sz="1300" b="1" i="0">
                <a:solidFill>
                  <a:srgbClr val="2B2B2B"/>
                </a:solidFill>
                <a:latin typeface="Calibri"/>
              </a:rPr>
              <a:t/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59" y="4251960"/>
            <a:ext cx="3246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2A9D8F"/>
                </a:solidFill>
                <a:latin typeface="Calibri"/>
              </a:rPr>
              <a:t>Telemetry &amp; Data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59" y="4663440"/>
            <a:ext cx="32461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200">
                <a:solidFill>
                  <a:srgbClr val="2B2B2B"/>
                </a:solidFill>
                <a:latin typeface="Calibri"/>
              </a:rPr>
              <a:t>•  SQLite</a:t>
            </a:r>
          </a:p>
          <a:p>
            <a:pPr>
              <a:spcAft>
                <a:spcPts val="600"/>
              </a:spcAft>
            </a:pPr>
            <a:r>
              <a:rPr sz="1200">
                <a:solidFill>
                  <a:srgbClr val="2B2B2B"/>
                </a:solidFill>
                <a:latin typeface="Calibri"/>
              </a:rPr>
              <a:t>•  Pandera schema validation</a:t>
            </a:r>
          </a:p>
          <a:p>
            <a:pPr>
              <a:spcAft>
                <a:spcPts val="600"/>
              </a:spcAft>
            </a:pPr>
            <a:r>
              <a:rPr sz="1200">
                <a:solidFill>
                  <a:srgbClr val="2B2B2B"/>
                </a:solidFill>
                <a:latin typeface="Calibri"/>
              </a:rPr>
              <a:t>•  Streamlit + ReportLab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434840" y="4114800"/>
            <a:ext cx="3611880" cy="2286000"/>
          </a:xfrm>
          <a:prstGeom prst="rect">
            <a:avLst/>
          </a:prstGeom>
          <a:solidFill>
            <a:srgbClr val="F4F6F8"/>
          </a:solidFill>
          <a:ln w="12700">
            <a:solidFill>
              <a:srgbClr val="D8DC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/>
          <a:lstStyle/>
          <a:p>
            <a:pPr algn="ctr"/>
            <a:r>
              <a:rPr sz="1300" b="1" i="0">
                <a:solidFill>
                  <a:srgbClr val="2B2B2B"/>
                </a:solidFill>
                <a:latin typeface="Calibri"/>
              </a:rPr>
              <a:t/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617720" y="4251960"/>
            <a:ext cx="3246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2A9D8F"/>
                </a:solidFill>
                <a:latin typeface="Calibri"/>
              </a:rPr>
              <a:t>Intelligence Layer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617720" y="4663440"/>
            <a:ext cx="32461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200">
                <a:solidFill>
                  <a:srgbClr val="2B2B2B"/>
                </a:solidFill>
                <a:latin typeface="Calibri"/>
              </a:rPr>
              <a:t>•  Claude API (Anthropic)</a:t>
            </a:r>
          </a:p>
          <a:p>
            <a:pPr>
              <a:spcAft>
                <a:spcPts val="600"/>
              </a:spcAft>
            </a:pPr>
            <a:r>
              <a:rPr sz="1200">
                <a:solidFill>
                  <a:srgbClr val="2B2B2B"/>
                </a:solidFill>
                <a:latin typeface="Calibri"/>
              </a:rPr>
              <a:t>•  Tool-use / structured diagnosis</a:t>
            </a:r>
          </a:p>
          <a:p>
            <a:pPr>
              <a:spcAft>
                <a:spcPts val="600"/>
              </a:spcAft>
            </a:pPr>
            <a:r>
              <a:rPr sz="1200">
                <a:solidFill>
                  <a:srgbClr val="2B2B2B"/>
                </a:solidFill>
                <a:latin typeface="Calibri"/>
              </a:rPr>
              <a:t>•  Human-in-the-loop approval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229600" y="4114800"/>
            <a:ext cx="3611880" cy="2286000"/>
          </a:xfrm>
          <a:prstGeom prst="rect">
            <a:avLst/>
          </a:prstGeom>
          <a:solidFill>
            <a:srgbClr val="F4F6F8"/>
          </a:solidFill>
          <a:ln w="12700">
            <a:solidFill>
              <a:srgbClr val="D8DC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/>
          <a:lstStyle/>
          <a:p>
            <a:pPr algn="ctr"/>
            <a:r>
              <a:rPr sz="1300" b="1" i="0">
                <a:solidFill>
                  <a:srgbClr val="2B2B2B"/>
                </a:solidFill>
                <a:latin typeface="Calibri"/>
              </a:rPr>
              <a:t/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412480" y="4251960"/>
            <a:ext cx="3246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2A9D8F"/>
                </a:solidFill>
                <a:latin typeface="Calibri"/>
              </a:rPr>
              <a:t>Target Hardware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412480" y="4663440"/>
            <a:ext cx="32461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200">
                <a:solidFill>
                  <a:srgbClr val="2B2B2B"/>
                </a:solidFill>
                <a:latin typeface="Calibri"/>
              </a:rPr>
              <a:t>•  Jetson Orin Nano Super</a:t>
            </a:r>
          </a:p>
          <a:p>
            <a:pPr>
              <a:spcAft>
                <a:spcPts val="600"/>
              </a:spcAft>
            </a:pPr>
            <a:r>
              <a:rPr sz="1200">
                <a:solidFill>
                  <a:srgbClr val="2B2B2B"/>
                </a:solidFill>
                <a:latin typeface="Calibri"/>
              </a:rPr>
              <a:t>•  Waveshare UGV-PT</a:t>
            </a:r>
          </a:p>
          <a:p>
            <a:pPr>
              <a:spcAft>
                <a:spcPts val="600"/>
              </a:spcAft>
            </a:pPr>
            <a:r>
              <a:rPr sz="1200">
                <a:solidFill>
                  <a:srgbClr val="2B2B2B"/>
                </a:solidFill>
                <a:latin typeface="Calibri"/>
              </a:rPr>
              <a:t>•  ESP32 sub-controller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2920" y="6510528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B7280"/>
                </a:solidFill>
                <a:latin typeface="Calibri"/>
              </a:rPr>
              <a:t>autonomous-fleet-testbed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26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09728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2A9D8F"/>
                </a:solidFill>
                <a:latin typeface="Calibri"/>
              </a:rPr>
              <a:t>PROGRESS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384048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13 Sessions Complete, 3 to Real Hardware</a:t>
            </a:r>
          </a:p>
        </p:txBody>
      </p:sp>
      <p:sp>
        <p:nvSpPr>
          <p:cNvPr id="5" name="Oval 4"/>
          <p:cNvSpPr/>
          <p:nvPr/>
        </p:nvSpPr>
        <p:spPr>
          <a:xfrm>
            <a:off x="822960" y="1783080"/>
            <a:ext cx="320040" cy="320040"/>
          </a:xfrm>
          <a:prstGeom prst="ellipse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" name="Connector 5"/>
          <p:cNvCxnSpPr/>
          <p:nvPr/>
        </p:nvCxnSpPr>
        <p:spPr>
          <a:xfrm>
            <a:off x="982980" y="2103120"/>
            <a:ext cx="0" cy="502919"/>
          </a:xfrm>
          <a:prstGeom prst="line">
            <a:avLst/>
          </a:prstGeom>
          <a:ln w="25400">
            <a:solidFill>
              <a:srgbClr val="D8DC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417320" y="1691639"/>
            <a:ext cx="1005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2A9D8F"/>
                </a:solidFill>
                <a:latin typeface="Calibri"/>
              </a:rPr>
              <a:t>01–05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514600" y="1664207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2B2B2B"/>
                </a:solidFill>
                <a:latin typeface="Calibri"/>
              </a:rPr>
              <a:t>Foundation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394960" y="1664207"/>
            <a:ext cx="6217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6B7280"/>
                </a:solidFill>
                <a:latin typeface="Calibri"/>
              </a:rPr>
              <a:t>Ubuntu, ROS2, Docker, GitHub repo, file migration</a:t>
            </a:r>
          </a:p>
        </p:txBody>
      </p:sp>
      <p:sp>
        <p:nvSpPr>
          <p:cNvPr id="10" name="Oval 9"/>
          <p:cNvSpPr/>
          <p:nvPr/>
        </p:nvSpPr>
        <p:spPr>
          <a:xfrm>
            <a:off x="822960" y="2651759"/>
            <a:ext cx="320040" cy="320040"/>
          </a:xfrm>
          <a:prstGeom prst="ellipse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1" name="Connector 10"/>
          <p:cNvCxnSpPr/>
          <p:nvPr/>
        </p:nvCxnSpPr>
        <p:spPr>
          <a:xfrm>
            <a:off x="982980" y="2971799"/>
            <a:ext cx="0" cy="502921"/>
          </a:xfrm>
          <a:prstGeom prst="line">
            <a:avLst/>
          </a:prstGeom>
          <a:ln w="25400">
            <a:solidFill>
              <a:srgbClr val="D8DC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1417320" y="2560320"/>
            <a:ext cx="1005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2A9D8F"/>
                </a:solidFill>
                <a:latin typeface="Calibri"/>
              </a:rPr>
              <a:t>06–08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514600" y="2532887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2B2B2B"/>
                </a:solidFill>
                <a:latin typeface="Calibri"/>
              </a:rPr>
              <a:t>CI Gates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394960" y="2532887"/>
            <a:ext cx="6217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6B7280"/>
                </a:solidFill>
                <a:latin typeface="Calibri"/>
              </a:rPr>
              <a:t>Requirements traceability, code quality, arm64 cross-compile</a:t>
            </a:r>
          </a:p>
        </p:txBody>
      </p:sp>
      <p:sp>
        <p:nvSpPr>
          <p:cNvPr id="15" name="Oval 14"/>
          <p:cNvSpPr/>
          <p:nvPr/>
        </p:nvSpPr>
        <p:spPr>
          <a:xfrm>
            <a:off x="822960" y="3520439"/>
            <a:ext cx="320040" cy="320040"/>
          </a:xfrm>
          <a:prstGeom prst="ellipse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6" name="Connector 15"/>
          <p:cNvCxnSpPr/>
          <p:nvPr/>
        </p:nvCxnSpPr>
        <p:spPr>
          <a:xfrm>
            <a:off x="982980" y="3840480"/>
            <a:ext cx="0" cy="502920"/>
          </a:xfrm>
          <a:prstGeom prst="line">
            <a:avLst/>
          </a:prstGeom>
          <a:ln w="25400">
            <a:solidFill>
              <a:srgbClr val="D8DC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1417320" y="3429000"/>
            <a:ext cx="1005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2A9D8F"/>
                </a:solidFill>
                <a:latin typeface="Calibri"/>
              </a:rPr>
              <a:t>09–10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514600" y="3401568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2B2B2B"/>
                </a:solidFill>
                <a:latin typeface="Calibri"/>
              </a:rPr>
              <a:t>First Nav Test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394960" y="3401568"/>
            <a:ext cx="6217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6B7280"/>
                </a:solidFill>
                <a:latin typeface="Calibri"/>
              </a:rPr>
              <a:t>URDF + Gazebo + Nav2, first green nav test, self-hosted runner</a:t>
            </a:r>
          </a:p>
        </p:txBody>
      </p:sp>
      <p:sp>
        <p:nvSpPr>
          <p:cNvPr id="20" name="Oval 19"/>
          <p:cNvSpPr/>
          <p:nvPr/>
        </p:nvSpPr>
        <p:spPr>
          <a:xfrm>
            <a:off x="822960" y="4389120"/>
            <a:ext cx="320040" cy="320040"/>
          </a:xfrm>
          <a:prstGeom prst="ellipse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1" name="Connector 20"/>
          <p:cNvCxnSpPr/>
          <p:nvPr/>
        </p:nvCxnSpPr>
        <p:spPr>
          <a:xfrm>
            <a:off x="982980" y="4709160"/>
            <a:ext cx="0" cy="502920"/>
          </a:xfrm>
          <a:prstGeom prst="line">
            <a:avLst/>
          </a:prstGeom>
          <a:ln w="25400">
            <a:solidFill>
              <a:srgbClr val="D8DC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1417320" y="4297680"/>
            <a:ext cx="1005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2A9D8F"/>
                </a:solidFill>
                <a:latin typeface="Calibri"/>
              </a:rPr>
              <a:t>11–12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514600" y="4270248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2B2B2B"/>
                </a:solidFill>
                <a:latin typeface="Calibri"/>
              </a:rPr>
              <a:t>Fidelity + Telemetry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394960" y="4270248"/>
            <a:ext cx="6217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6B7280"/>
                </a:solidFill>
                <a:latin typeface="Calibri"/>
              </a:rPr>
              <a:t>Isaac Sim integration, full telemetry → dashboard → drift pipeline</a:t>
            </a:r>
          </a:p>
        </p:txBody>
      </p:sp>
      <p:sp>
        <p:nvSpPr>
          <p:cNvPr id="25" name="Oval 24"/>
          <p:cNvSpPr/>
          <p:nvPr/>
        </p:nvSpPr>
        <p:spPr>
          <a:xfrm>
            <a:off x="822960" y="5257800"/>
            <a:ext cx="320040" cy="320040"/>
          </a:xfrm>
          <a:prstGeom prst="ellipse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417320" y="5166360"/>
            <a:ext cx="1005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2A9D8F"/>
                </a:solidFill>
                <a:latin typeface="Calibri"/>
              </a:rPr>
              <a:t>13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514600" y="5138928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2B2B2B"/>
                </a:solidFill>
                <a:latin typeface="Calibri"/>
              </a:rPr>
              <a:t>Agentic Loop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394960" y="5138928"/>
            <a:ext cx="6217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6B7280"/>
                </a:solidFill>
                <a:latin typeface="Calibri"/>
              </a:rPr>
              <a:t>Claude diagnoses failures, proposes fixes, human approves</a:t>
            </a:r>
          </a:p>
        </p:txBody>
      </p:sp>
      <p:sp>
        <p:nvSpPr>
          <p:cNvPr id="29" name="Oval 28"/>
          <p:cNvSpPr/>
          <p:nvPr/>
        </p:nvSpPr>
        <p:spPr>
          <a:xfrm>
            <a:off x="777240" y="6217920"/>
            <a:ext cx="411480" cy="411480"/>
          </a:xfrm>
          <a:prstGeom prst="ellipse">
            <a:avLst/>
          </a:prstGeom>
          <a:solidFill>
            <a:srgbClr val="E76F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417320" y="6190488"/>
            <a:ext cx="1005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E76F51"/>
                </a:solidFill>
                <a:latin typeface="Calibri"/>
              </a:rPr>
              <a:t>14–16+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514600" y="6163056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2B2B2B"/>
                </a:solidFill>
                <a:latin typeface="Calibri"/>
              </a:rPr>
              <a:t>Real Hardware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394960" y="6163056"/>
            <a:ext cx="6217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6B7280"/>
                </a:solidFill>
                <a:latin typeface="Calibri"/>
              </a:rPr>
              <a:t>Jetson flash, real robot deploy, sim-to-real correlation, r1-complete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26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09728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2A9D8F"/>
                </a:solidFill>
                <a:latin typeface="Calibri"/>
              </a:rPr>
              <a:t>ROADMAP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384048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What's Next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645920"/>
            <a:ext cx="5212080" cy="3931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76F5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/>
          <a:lstStyle/>
          <a:p>
            <a:pPr algn="ctr"/>
            <a:r>
              <a:rPr sz="1300" b="1" i="0">
                <a:solidFill>
                  <a:srgbClr val="2B2B2B"/>
                </a:solidFill>
                <a:latin typeface="Calibri"/>
              </a:rPr>
              <a:t/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4663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E76F51"/>
                </a:solidFill>
                <a:latin typeface="Calibri"/>
              </a:rPr>
              <a:t>R4 — NEXT (the differentiator)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331720"/>
            <a:ext cx="466344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b="1" sz="1300">
                <a:solidFill>
                  <a:srgbClr val="2A9D8F"/>
                </a:solidFill>
                <a:latin typeface="Calibri"/>
              </a:rPr>
              <a:t>•  Closed-loop agentic test/heal</a:t>
            </a:r>
            <a:r>
              <a:rPr sz="1300">
                <a:solidFill>
                  <a:srgbClr val="2B2B2B"/>
                </a:solidFill>
                <a:latin typeface="Calibri"/>
              </a:rPr>
              <a:t>  on named failure modes — already scaffolded in Session 13</a:t>
            </a:r>
          </a:p>
          <a:p>
            <a:pPr>
              <a:spcAft>
                <a:spcPts val="1400"/>
              </a:spcAft>
            </a:pPr>
            <a:r>
              <a:rPr b="1" sz="1300">
                <a:solidFill>
                  <a:srgbClr val="2A9D8F"/>
                </a:solidFill>
                <a:latin typeface="Calibri"/>
              </a:rPr>
              <a:t>•  Automated sim-to-real alignment</a:t>
            </a:r>
            <a:r>
              <a:rPr sz="1300">
                <a:solidFill>
                  <a:srgbClr val="2B2B2B"/>
                </a:solidFill>
                <a:latin typeface="Calibri"/>
              </a:rPr>
              <a:t>  auto-tune domain randomization so sim tracks reality</a:t>
            </a:r>
          </a:p>
          <a:p>
            <a:pPr>
              <a:spcAft>
                <a:spcPts val="1400"/>
              </a:spcAft>
            </a:pPr>
            <a:r>
              <a:rPr b="1" sz="1300">
                <a:solidFill>
                  <a:srgbClr val="2A9D8F"/>
                </a:solidFill>
                <a:latin typeface="Calibri"/>
              </a:rPr>
              <a:t>•  Generative scenarios → real SDF</a:t>
            </a:r>
            <a:r>
              <a:rPr sz="1300">
                <a:solidFill>
                  <a:srgbClr val="2B2B2B"/>
                </a:solidFill>
                <a:latin typeface="Calibri"/>
              </a:rPr>
              <a:t>  natural-language prompt → an actual Gazebo world, not just JSON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63640" y="1645920"/>
            <a:ext cx="5212080" cy="3931920"/>
          </a:xfrm>
          <a:prstGeom prst="roundRect">
            <a:avLst/>
          </a:prstGeom>
          <a:solidFill>
            <a:srgbClr val="F4F6F8"/>
          </a:solidFill>
          <a:ln w="12700">
            <a:solidFill>
              <a:srgbClr val="D8DC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/>
          <a:lstStyle/>
          <a:p>
            <a:pPr algn="ctr"/>
            <a:r>
              <a:rPr sz="1300" b="1" i="0">
                <a:solidFill>
                  <a:srgbClr val="2B2B2B"/>
                </a:solidFill>
                <a:latin typeface="Calibri"/>
              </a:rPr>
              <a:t/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37960" y="1828800"/>
            <a:ext cx="4663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6B7280"/>
                </a:solidFill>
                <a:latin typeface="Calibri"/>
              </a:rPr>
              <a:t>R2 / R3 — optional demo flourish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37960" y="2331720"/>
            <a:ext cx="466344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1300">
                <a:solidFill>
                  <a:srgbClr val="6B7280"/>
                </a:solidFill>
                <a:latin typeface="Calibri"/>
              </a:rPr>
              <a:t>•  Multi-robot fleet coordination</a:t>
            </a:r>
          </a:p>
          <a:p>
            <a:pPr>
              <a:spcAft>
                <a:spcPts val="1400"/>
              </a:spcAft>
            </a:pPr>
            <a:r>
              <a:rPr sz="1300">
                <a:solidFill>
                  <a:srgbClr val="6B7280"/>
                </a:solidFill>
                <a:latin typeface="Calibri"/>
              </a:rPr>
              <a:t>•  Drone added — aerial + ground coordination</a:t>
            </a:r>
          </a:p>
          <a:p>
            <a:pPr>
              <a:spcAft>
                <a:spcPts val="1400"/>
              </a:spcAft>
            </a:pPr>
            <a:r>
              <a:rPr sz="1300">
                <a:solidFill>
                  <a:srgbClr val="6B7280"/>
                </a:solidFill>
                <a:latin typeface="Calibri"/>
              </a:rPr>
              <a:t>•  Fully autonomous, AI-defined missions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37960" y="5029200"/>
            <a:ext cx="4663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1">
                <a:solidFill>
                  <a:srgbClr val="6B7280"/>
                </a:solidFill>
                <a:latin typeface="Calibri"/>
              </a:rPr>
              <a:t>Pulled forward only if a specific role/customer/demo needs it.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5806440"/>
            <a:ext cx="10881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2B2B2B"/>
                </a:solidFill>
                <a:latin typeface="Calibri"/>
              </a:rPr>
              <a:t>The differentiator lives on the infrastructure axis — not the robot-count axis.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6510528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B7280"/>
                </a:solidFill>
                <a:latin typeface="Calibri"/>
              </a:rPr>
              <a:t>autonomous-fleet-testbed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263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103327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 i="0">
                <a:solidFill>
                  <a:srgbClr val="FFFFFF"/>
                </a:solidFill>
                <a:latin typeface="Calibri"/>
              </a:rPr>
              <a:t>A disciplined, AI-augmented CI/CD pipeline</a:t>
            </a:r>
          </a:p>
          <a:p>
            <a:pPr algn="ctr"/>
            <a:r>
              <a:rPr sz="3200" b="1" i="0">
                <a:solidFill>
                  <a:srgbClr val="FFFFFF"/>
                </a:solidFill>
                <a:latin typeface="Calibri"/>
              </a:rPr>
              <a:t>for autonomous robots.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611880"/>
            <a:ext cx="10332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1">
                <a:solidFill>
                  <a:srgbClr val="2A9D8F"/>
                </a:solidFill>
                <a:latin typeface="Calibri"/>
              </a:rPr>
              <a:t>Proven end-to-end in simulation today. On real hardware next.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5120640"/>
            <a:ext cx="10332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8A9BAC"/>
                </a:solidFill>
                <a:latin typeface="Calibri"/>
              </a:rPr>
              <a:t>Private repository — code available on request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5486400"/>
            <a:ext cx="10332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Mike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